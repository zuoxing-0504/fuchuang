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46143d38fa4f4b" /><Relationship Type="http://schemas.openxmlformats.org/officeDocument/2006/relationships/extended-properties" Target="/docProps/app.xml" Id="Rdb16148985bc4fb4" /><Relationship Type="http://schemas.openxmlformats.org/officeDocument/2006/relationships/officeDocument" Target="/ppt/presentation.xml" Id="Rc8152eebb15344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675f845eb54d6e"/>
  </p:sldMasterIdLst>
  <p:notesMasterIdLst>
    <p:notesMasterId xmlns:r="http://schemas.openxmlformats.org/officeDocument/2006/relationships" r:id="Re7601c20c7f64b37"/>
  </p:notesMasterIdLst>
  <p:sldIdLst>
    <p:sldId xmlns:r="http://schemas.openxmlformats.org/officeDocument/2006/relationships" id="256" r:id="Rffaa19d5b0f04a8e"/>
    <p:sldId xmlns:r="http://schemas.openxmlformats.org/officeDocument/2006/relationships" id="257" r:id="R7e71cbe07e1c47ae"/>
    <p:sldId xmlns:r="http://schemas.openxmlformats.org/officeDocument/2006/relationships" id="258" r:id="Ref28da93462f4905"/>
    <p:sldId xmlns:r="http://schemas.openxmlformats.org/officeDocument/2006/relationships" id="259" r:id="R9fee91863da44e4c"/>
    <p:sldId xmlns:r="http://schemas.openxmlformats.org/officeDocument/2006/relationships" id="260" r:id="Rc5a350ef3323474a"/>
    <p:sldId xmlns:r="http://schemas.openxmlformats.org/officeDocument/2006/relationships" id="261" r:id="R8ffd0cce27964591"/>
    <p:sldId xmlns:r="http://schemas.openxmlformats.org/officeDocument/2006/relationships" id="262" r:id="Rb1d5e767a23f40df"/>
    <p:sldId xmlns:r="http://schemas.openxmlformats.org/officeDocument/2006/relationships" id="263" r:id="R1a023319e372464c"/>
    <p:sldId xmlns:r="http://schemas.openxmlformats.org/officeDocument/2006/relationships" id="264" r:id="R1aa1c8f2ac8f4cee"/>
    <p:sldId xmlns:r="http://schemas.openxmlformats.org/officeDocument/2006/relationships" id="265" r:id="R659b5431f5e84cca"/>
    <p:sldId xmlns:r="http://schemas.openxmlformats.org/officeDocument/2006/relationships" id="266" r:id="Raa62abca1add4d51"/>
    <p:sldId xmlns:r="http://schemas.openxmlformats.org/officeDocument/2006/relationships" id="267" r:id="Rd6ef225f320b455f"/>
    <p:sldId xmlns:r="http://schemas.openxmlformats.org/officeDocument/2006/relationships" id="268" r:id="R8cfde78508f046dc"/>
    <p:sldId xmlns:r="http://schemas.openxmlformats.org/officeDocument/2006/relationships" id="269" r:id="Rdc0ff3f1f8fd4f85"/>
    <p:sldId xmlns:r="http://schemas.openxmlformats.org/officeDocument/2006/relationships" id="270" r:id="Ra161a0d58d134f24"/>
    <p:sldId xmlns:r="http://schemas.openxmlformats.org/officeDocument/2006/relationships" id="271" r:id="Ra4ab6f9d55d74190"/>
    <p:sldId xmlns:r="http://schemas.openxmlformats.org/officeDocument/2006/relationships" id="272" r:id="Rb30f85467ab4461b"/>
    <p:sldId xmlns:r="http://schemas.openxmlformats.org/officeDocument/2006/relationships" id="273" r:id="Rff44cfba934b4076"/>
    <p:sldId xmlns:r="http://schemas.openxmlformats.org/officeDocument/2006/relationships" id="274" r:id="R9eacf77adb0a44ff"/>
    <p:sldId xmlns:r="http://schemas.openxmlformats.org/officeDocument/2006/relationships" id="275" r:id="R84a23e836dc048f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675f845eb54d6e" /><Relationship Type="http://schemas.openxmlformats.org/officeDocument/2006/relationships/theme" Target="/ppt/theme/theme1.xml" Id="R8d6ce344e63f4163" /><Relationship Type="http://schemas.openxmlformats.org/officeDocument/2006/relationships/notesMaster" Target="/ppt/notesMasters/notesMaster1.xml" Id="Re7601c20c7f64b37" /><Relationship Type="http://schemas.openxmlformats.org/officeDocument/2006/relationships/presProps" Target="/ppt/presProps.xml" Id="R09c3070139824fbf" /><Relationship Type="http://schemas.openxmlformats.org/officeDocument/2006/relationships/viewProps" Target="/ppt/viewProps.xml" Id="Rd1fb55d461614710" /><Relationship Type="http://schemas.openxmlformats.org/officeDocument/2006/relationships/tableStyles" Target="/ppt/tableStyles.xml" Id="Rd7e0a9e21073442d" /><Relationship Type="http://schemas.openxmlformats.org/officeDocument/2006/relationships/slide" Target="/ppt/slides/slide1.xml" Id="Rffaa19d5b0f04a8e" /><Relationship Type="http://schemas.openxmlformats.org/officeDocument/2006/relationships/slide" Target="/ppt/slides/slide2.xml" Id="R7e71cbe07e1c47ae" /><Relationship Type="http://schemas.openxmlformats.org/officeDocument/2006/relationships/slide" Target="/ppt/slides/slide3.xml" Id="Ref28da93462f4905" /><Relationship Type="http://schemas.openxmlformats.org/officeDocument/2006/relationships/slide" Target="/ppt/slides/slide4.xml" Id="R9fee91863da44e4c" /><Relationship Type="http://schemas.openxmlformats.org/officeDocument/2006/relationships/slide" Target="/ppt/slides/slide5.xml" Id="Rc5a350ef3323474a" /><Relationship Type="http://schemas.openxmlformats.org/officeDocument/2006/relationships/slide" Target="/ppt/slides/slide6.xml" Id="R8ffd0cce27964591" /><Relationship Type="http://schemas.openxmlformats.org/officeDocument/2006/relationships/slide" Target="/ppt/slides/slide7.xml" Id="Rb1d5e767a23f40df" /><Relationship Type="http://schemas.openxmlformats.org/officeDocument/2006/relationships/slide" Target="/ppt/slides/slide8.xml" Id="R1a023319e372464c" /><Relationship Type="http://schemas.openxmlformats.org/officeDocument/2006/relationships/slide" Target="/ppt/slides/slide9.xml" Id="R1aa1c8f2ac8f4cee" /><Relationship Type="http://schemas.openxmlformats.org/officeDocument/2006/relationships/slide" Target="/ppt/slides/slide10.xml" Id="R659b5431f5e84cca" /><Relationship Type="http://schemas.openxmlformats.org/officeDocument/2006/relationships/slide" Target="/ppt/slides/slide11.xml" Id="Raa62abca1add4d51" /><Relationship Type="http://schemas.openxmlformats.org/officeDocument/2006/relationships/slide" Target="/ppt/slides/slide12.xml" Id="Rd6ef225f320b455f" /><Relationship Type="http://schemas.openxmlformats.org/officeDocument/2006/relationships/slide" Target="/ppt/slides/slide13.xml" Id="R8cfde78508f046dc" /><Relationship Type="http://schemas.openxmlformats.org/officeDocument/2006/relationships/slide" Target="/ppt/slides/slide14.xml" Id="Rdc0ff3f1f8fd4f85" /><Relationship Type="http://schemas.openxmlformats.org/officeDocument/2006/relationships/slide" Target="/ppt/slides/slide15.xml" Id="Ra161a0d58d134f24" /><Relationship Type="http://schemas.openxmlformats.org/officeDocument/2006/relationships/slide" Target="/ppt/slides/slide16.xml" Id="Ra4ab6f9d55d74190" /><Relationship Type="http://schemas.openxmlformats.org/officeDocument/2006/relationships/slide" Target="/ppt/slides/slide17.xml" Id="Rb30f85467ab4461b" /><Relationship Type="http://schemas.openxmlformats.org/officeDocument/2006/relationships/slide" Target="/ppt/slides/slide18.xml" Id="Rff44cfba934b4076" /><Relationship Type="http://schemas.openxmlformats.org/officeDocument/2006/relationships/slide" Target="/ppt/slides/slide19.xml" Id="R9eacf77adb0a44ff" /><Relationship Type="http://schemas.openxmlformats.org/officeDocument/2006/relationships/slide" Target="/ppt/slides/slide20.xml" Id="R84a23e836dc048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ed1ab6de31e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aac434f442432c" /><Relationship Type="http://schemas.openxmlformats.org/officeDocument/2006/relationships/notesMaster" Target="/ppt/notesMasters/notesMaster1.xml" Id="R044c3c42254b4c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f02bb6aef2484f" /><Relationship Type="http://schemas.openxmlformats.org/officeDocument/2006/relationships/notesMaster" Target="/ppt/notesMasters/notesMaster1.xml" Id="R341568f2bcdb42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26c1eafe4d41f4" /><Relationship Type="http://schemas.openxmlformats.org/officeDocument/2006/relationships/notesMaster" Target="/ppt/notesMasters/notesMaster1.xml" Id="Rb9c9000ea0a243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5b7170591c43d1" /><Relationship Type="http://schemas.openxmlformats.org/officeDocument/2006/relationships/notesMaster" Target="/ppt/notesMasters/notesMaster1.xml" Id="R0a7a941b527548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d4fb7518fd483e" /><Relationship Type="http://schemas.openxmlformats.org/officeDocument/2006/relationships/notesMaster" Target="/ppt/notesMasters/notesMaster1.xml" Id="R8680727449384a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4fcf7d53914520" /><Relationship Type="http://schemas.openxmlformats.org/officeDocument/2006/relationships/notesMaster" Target="/ppt/notesMasters/notesMaster1.xml" Id="R440f3e10e58149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020b82214e4c3d" /><Relationship Type="http://schemas.openxmlformats.org/officeDocument/2006/relationships/notesMaster" Target="/ppt/notesMasters/notesMaster1.xml" Id="Re8234fd10d724d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4cdcac2f0743c5" /><Relationship Type="http://schemas.openxmlformats.org/officeDocument/2006/relationships/notesMaster" Target="/ppt/notesMasters/notesMaster1.xml" Id="R55bc65bac42a49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0fa6ca5c3d4d6d" /><Relationship Type="http://schemas.openxmlformats.org/officeDocument/2006/relationships/notesMaster" Target="/ppt/notesMasters/notesMaster1.xml" Id="R11be4a4953ac43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38c32883b048ed" /><Relationship Type="http://schemas.openxmlformats.org/officeDocument/2006/relationships/notesMaster" Target="/ppt/notesMasters/notesMaster1.xml" Id="Rf7e36e66a1654c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36d19cf6e0416a" /><Relationship Type="http://schemas.openxmlformats.org/officeDocument/2006/relationships/notesMaster" Target="/ppt/notesMasters/notesMaster1.xml" Id="Rbb24d5fe3f454a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f1436c55c441c5" /><Relationship Type="http://schemas.openxmlformats.org/officeDocument/2006/relationships/notesMaster" Target="/ppt/notesMasters/notesMaster1.xml" Id="Re309eab2f3bf42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3439018ef64398" /><Relationship Type="http://schemas.openxmlformats.org/officeDocument/2006/relationships/notesMaster" Target="/ppt/notesMasters/notesMaster1.xml" Id="R9cde6f45863548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387a06db7b4fc1" /><Relationship Type="http://schemas.openxmlformats.org/officeDocument/2006/relationships/notesMaster" Target="/ppt/notesMasters/notesMaster1.xml" Id="Rb25a7ee6361349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587761f9eb4077" /><Relationship Type="http://schemas.openxmlformats.org/officeDocument/2006/relationships/notesMaster" Target="/ppt/notesMasters/notesMaster1.xml" Id="R4151e33fe69e40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11a8cdf20043dd" /><Relationship Type="http://schemas.openxmlformats.org/officeDocument/2006/relationships/notesMaster" Target="/ppt/notesMasters/notesMaster1.xml" Id="R19306a3462654f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9777d5252545c3" /><Relationship Type="http://schemas.openxmlformats.org/officeDocument/2006/relationships/notesMaster" Target="/ppt/notesMasters/notesMaster1.xml" Id="R36d526ddce3747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954a9750e54761" /><Relationship Type="http://schemas.openxmlformats.org/officeDocument/2006/relationships/notesMaster" Target="/ppt/notesMasters/notesMaster1.xml" Id="R4cec5df638e34ac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e014c4513f47c4" /><Relationship Type="http://schemas.openxmlformats.org/officeDocument/2006/relationships/notesMaster" Target="/ppt/notesMasters/notesMaster1.xml" Id="R6a9e7ddb8b2a4e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9a6f365d2d74953" /><Relationship Type="http://schemas.openxmlformats.org/officeDocument/2006/relationships/notesMaster" Target="/ppt/notesMasters/notesMaster1.xml" Id="Re2fc882da64c4d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cc829d30248b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AB91867-3DD7-45C1-8CFE-06008EE9FA7D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1CC0641-CD28-47BD-9203-652542FE4DB3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E56540-9A65-4B53-9B06-B0F611FE3F5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29E926-99FE-4AD5-8AAA-7FF79C9E81D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c41b0f10854cfb" /><Relationship Type="http://schemas.openxmlformats.org/officeDocument/2006/relationships/slideLayout" Target="/ppt/slideLayouts/slideLayout2.xml" Id="Re5def3c7c1204d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F6DA42-22CC-465D-A50A-4B686D892234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def3c7c1204d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7f0e9db5224713" /><Relationship Type="http://schemas.openxmlformats.org/officeDocument/2006/relationships/notesSlide" Target="/ppt/notesSlides/notesSlide1.xml" Id="Rd8011bd1eaf943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6ce4bc73f44eb2" /><Relationship Type="http://schemas.openxmlformats.org/officeDocument/2006/relationships/notesSlide" Target="/ppt/notesSlides/notesSlide2.xml" Id="Rdae2f9c7967e4d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eb090bb1e14c1c" /><Relationship Type="http://schemas.openxmlformats.org/officeDocument/2006/relationships/notesSlide" Target="/ppt/notesSlides/notesSlide3.xml" Id="Rf5584b311f9f41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be8bf317f6548d1" /><Relationship Type="http://schemas.openxmlformats.org/officeDocument/2006/relationships/notesSlide" Target="/ppt/notesSlides/notesSlide4.xml" Id="R80946c9e259a41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fa119681154d3d" /><Relationship Type="http://schemas.openxmlformats.org/officeDocument/2006/relationships/notesSlide" Target="/ppt/notesSlides/notesSlide5.xml" Id="R9c18285373824b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3d5fe9eb8544b4" /><Relationship Type="http://schemas.openxmlformats.org/officeDocument/2006/relationships/notesSlide" Target="/ppt/notesSlides/notesSlide6.xml" Id="Re79a750d1ec642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7d979912424839" /><Relationship Type="http://schemas.openxmlformats.org/officeDocument/2006/relationships/notesSlide" Target="/ppt/notesSlides/notesSlide7.xml" Id="R9ae63b7ad5fe41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bb0e2194e84e97" /><Relationship Type="http://schemas.openxmlformats.org/officeDocument/2006/relationships/notesSlide" Target="/ppt/notesSlides/notesSlide8.xml" Id="Rb347143673d44d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564522c85e4f12" /><Relationship Type="http://schemas.openxmlformats.org/officeDocument/2006/relationships/notesSlide" Target="/ppt/notesSlides/notesSlide9.xml" Id="R7b72288ffb934e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17d81d0d17433b" /><Relationship Type="http://schemas.openxmlformats.org/officeDocument/2006/relationships/notesSlide" Target="/ppt/notesSlides/notesSlide10.xml" Id="R48a94dc399414a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044d2843c94df3" /><Relationship Type="http://schemas.openxmlformats.org/officeDocument/2006/relationships/notesSlide" Target="/ppt/notesSlides/notesSlide11.xml" Id="R2d4467c9250945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f09a663982428a" /><Relationship Type="http://schemas.openxmlformats.org/officeDocument/2006/relationships/notesSlide" Target="/ppt/notesSlides/notesSlide12.xml" Id="R311338cde3c14ad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f1a7e9e4cb4ce8" /><Relationship Type="http://schemas.openxmlformats.org/officeDocument/2006/relationships/notesSlide" Target="/ppt/notesSlides/notesSlide13.xml" Id="Rfc3fde2fee154b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b76ae194464aa5" /><Relationship Type="http://schemas.openxmlformats.org/officeDocument/2006/relationships/notesSlide" Target="/ppt/notesSlides/notesSlide14.xml" Id="Rb4672402c78242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af07422f364ca9" /><Relationship Type="http://schemas.openxmlformats.org/officeDocument/2006/relationships/notesSlide" Target="/ppt/notesSlides/notesSlide15.xml" Id="R7e980b775ee943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f7de1b5b8e4025" /><Relationship Type="http://schemas.openxmlformats.org/officeDocument/2006/relationships/notesSlide" Target="/ppt/notesSlides/notesSlide16.xml" Id="R81e3ed7248dc444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b8e687744b41c7" /><Relationship Type="http://schemas.openxmlformats.org/officeDocument/2006/relationships/notesSlide" Target="/ppt/notesSlides/notesSlide17.xml" Id="R4f613e1b208f405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fd4026006f4a22" /><Relationship Type="http://schemas.openxmlformats.org/officeDocument/2006/relationships/notesSlide" Target="/ppt/notesSlides/notesSlide18.xml" Id="R85b4ebbc85f14dc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53360665d04e39" /><Relationship Type="http://schemas.openxmlformats.org/officeDocument/2006/relationships/notesSlide" Target="/ppt/notesSlides/notesSlide19.xml" Id="R20aacf5e355c40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dba092f5ec475e" /><Relationship Type="http://schemas.openxmlformats.org/officeDocument/2006/relationships/notesSlide" Target="/ppt/notesSlides/notesSlide20.xml" Id="Rfec3d67e36f04d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CA1CD-194D-493D-8A50-975BC2B6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3EAF3-1DC3-4E10-A7AB-FAABC828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1C003-AE32-4145-AC35-81F04B62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8D439-733E-4240-8B30-65B95AE6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F628E-ABE6-42A7-B031-0656B9B8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F882C-5B0F-4E26-A0DC-3F417587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ABB74-41E5-4923-9CA6-8F7E5FEF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第十七届中国大学生服务外包创新创业大赛 A14 赛题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ED06B-A54B-471C-A476-DDDCB094C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223A"/>
                </a:solidFill>
              </a:defRPr>
            </a:pPr>
            <a:r>
              <a:rPr sz="2550" b="1">
                <a:solidFill>
                  <a:srgbClr val="0E223A"/>
                </a:solidFill>
              </a:rPr>
              <a:t>知行雷达：高校学生行为分析与成长支持平台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958AC-4B5F-4449-9ED1-BF01E82F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多源数据融合 · 学生画像 · 风险预警 · 个性化报告 · Web / 安卓一体化服务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0D6BB-5C53-4A0B-BF83-36F86C91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04F565-3814-4974-B889-9C7254B7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68921-9ADF-429F-8C82-A639DCCE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12652-52C3-4472-8893-4FB02A18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1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936B1-5D4A-4C33-A632-F9C45C61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82040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8E09DF-746E-4E7E-81B1-C093699A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18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65F5"/>
                </a:solidFill>
              </a:defRPr>
            </a:pPr>
            <a:r>
              <a:rPr sz="1350" b="1">
                <a:solidFill>
                  <a:srgbClr val="2165F5"/>
                </a:solidFill>
              </a:rPr>
              <a:t>项目关键词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5D8C5-8388-4D71-B9E9-B7F9B27A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1409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5270E-C78D-4626-B477-E2213DCD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65F5"/>
                </a:solidFill>
              </a:defRPr>
            </a:pPr>
            <a:r>
              <a:rPr sz="1125" b="1">
                <a:solidFill>
                  <a:srgbClr val="2165F5"/>
                </a:solidFill>
              </a:rPr>
              <a:t>个体画像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FE87B1-8A2E-4C92-88E3-22247CD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52800"/>
            <a:ext cx="1409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AA0EE-05DD-4A11-8E7C-83F7174D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48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65F5"/>
                </a:solidFill>
              </a:defRPr>
            </a:pPr>
            <a:r>
              <a:rPr sz="1125" b="1">
                <a:solidFill>
                  <a:srgbClr val="2165F5"/>
                </a:solidFill>
              </a:rPr>
              <a:t>群体画像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9568B-789F-4C88-89BC-48C7F5B6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52800"/>
            <a:ext cx="1409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5CE822-BF19-47BB-80A1-9006FBCA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480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65F5"/>
                </a:solidFill>
              </a:defRPr>
            </a:pPr>
            <a:r>
              <a:rPr sz="1125" b="1">
                <a:solidFill>
                  <a:srgbClr val="2165F5"/>
                </a:solidFill>
              </a:rPr>
              <a:t>风险预测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0725F8-A0EA-4FE0-9BCC-B0A9325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409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410C84-D839-4C31-8C4D-26177CC0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65F5"/>
                </a:solidFill>
              </a:defRPr>
            </a:pPr>
            <a:r>
              <a:rPr sz="1125" b="1">
                <a:solidFill>
                  <a:srgbClr val="2165F5"/>
                </a:solidFill>
              </a:rPr>
              <a:t>多任务模型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739F6-F98E-4122-9216-9999663D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05250"/>
            <a:ext cx="1409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1FABFB-16F9-4F7D-84E2-A3566010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005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65F5"/>
                </a:solidFill>
              </a:defRPr>
            </a:pPr>
            <a:r>
              <a:rPr sz="1125" b="1">
                <a:solidFill>
                  <a:srgbClr val="2165F5"/>
                </a:solidFill>
              </a:rPr>
              <a:t>智能助手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469FD7-E36D-421E-B673-0F6C3322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14097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0D2FE5-A0E2-492C-9C1B-632004CA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005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165F5"/>
                </a:solidFill>
              </a:defRPr>
            </a:pPr>
            <a:r>
              <a:rPr sz="1125" b="1">
                <a:solidFill>
                  <a:srgbClr val="2165F5"/>
                </a:solidFill>
              </a:rPr>
              <a:t>移动端同步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02F30E-742D-4E02-B14F-41F4490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8610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84D"/>
                </a:solidFill>
              </a:defRPr>
            </a:pPr>
            <a:r>
              <a:rPr sz="1500" b="0">
                <a:solidFill>
                  <a:srgbClr val="23384D"/>
                </a:solidFill>
              </a:rPr>
              <a:t>面向高校学生管理、辅导员支持与学生自助成长场景，构建一套可运行、可展示、可扩展的学生成长分析系统。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E68352-C253-4799-8311-4B776EF0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4815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223A"/>
                </a:solidFill>
              </a:defRPr>
            </a:pPr>
            <a:r>
              <a:rPr sz="2550" b="1">
                <a:solidFill>
                  <a:srgbClr val="0E223A"/>
                </a:solidFill>
              </a:rPr>
              <a:t>知行雷达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D504D8-8955-4F82-84B5-312D385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05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B91"/>
                </a:solidFill>
              </a:defRPr>
            </a:pPr>
            <a:r>
              <a:rPr sz="1350" b="0">
                <a:solidFill>
                  <a:srgbClr val="657B91"/>
                </a:solidFill>
              </a:rPr>
              <a:t>让成长状态看得见、讲得清、可行动</a:t>
            </a:r>
          </a:p>
        </p:txBody>
      </p:sp>
    </p:spTree>
    <p:extLst>
      <p:ext uri="{BB962C8B-B14F-4D97-AF65-F5344CB8AC3E}">
        <p14:creationId xmlns:p14="http://schemas.microsoft.com/office/powerpoint/2010/main" val="1825801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14096-BFA2-4B3D-840F-17F65FD0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8F94A-007C-43E1-9CB9-5F4298C8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530C2-22B7-4584-88AD-3605F55A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10108-335A-498A-B801-4E6CB05D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99360-02EE-4EB6-B52D-9F03C326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EB4B1-1E15-445E-BCC2-58556BDB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E8DB1-A299-444F-9125-A596D476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项目背景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9EA1C-69DF-4EBB-B28D-4BF7F047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高校学生管理面临从经验判断走向数据驱动的转变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AD9D0-6363-4C53-81D8-35FDE3A9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我们聚焦“识别不及时、解释不充分、干预不精准、展示不完整”四类核心问题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4AE2F-5E40-4372-8765-2D0DDF56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837E2-10D1-460C-BB38-C300429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0D4B0-1C60-4EE0-BA03-48BE602F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250B4-5787-458C-B373-A89EFE67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2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E1640A-AD93-4BB0-A0A4-4DB29722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B1A25D-73AC-409E-B36E-11370EBC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多源学生行为数据分散，难以统一归集和清洗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E1D615-5321-4FB5-B757-DBA31E39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12EEA-EAF5-43AF-9A54-06947838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传统预警依赖经验判断，缺少量化依据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08E357-460A-43B5-A27B-37ACF6FF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90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1282C9-A78B-4BC9-BD10-430D8D4D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学生个体差异明显，统一管理难以触达真实需求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4920FD-B152-4172-8559-DA5D86BA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720E6F-6F44-4A2A-8A13-7946AFB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管理端与学生端之间缺少统一的数据服务入口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98CC9-EF5D-4BA4-A6EB-E71EC813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43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41D38A-EBF2-4117-8119-7B3D7A6C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767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系统往往只给结论，不给解释与建议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27EEC3-8093-42D1-BD93-39909A19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2B4167-48A7-47A8-AF8B-6702C9A2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B515E9-8DA7-4335-A62E-8E1B56B0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数据割裂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B81740-A3F1-4D0D-882D-267DF154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门禁、图书馆、学业、体测、英语、奖助学金等数据口径不统一。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0F7B92-E316-4D90-B506-667FB028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098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3F0613-E2D5-4879-A3D9-6D695C36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003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87C424-FD53-4A55-8005-11BA731A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23F16C-022D-4064-88EA-5A096A25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CB15E5-6730-4E8F-9121-25184052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29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解释不足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CE071A-BCB7-4373-B2D1-B4B04A9F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只有风险等级或分数，缺少可支撑干预的解释依据。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98F240-8278-4C61-A865-07319EC2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481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6C9947-F3DD-4954-893B-E353427D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3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释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39FE2F8-6F2A-40E6-9971-B06C3294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EC9CDE-F999-4CDA-B890-28A20DC9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5810A2-3572-42BF-8CB2-DCCE0B00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展示单薄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49F4CE-62E5-42C9-B61E-CF328F9A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102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缺少全样本图表、移动端与学生自助服务能力。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80B017-E87A-416A-B023-F8C7267F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0863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35D532-D2DA-4A82-BEFE-8341C23F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2768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展</a:t>
            </a:r>
          </a:p>
        </p:txBody>
      </p:sp>
    </p:spTree>
    <p:extLst>
      <p:ext uri="{BB962C8B-B14F-4D97-AF65-F5344CB8AC3E}">
        <p14:creationId xmlns:p14="http://schemas.microsoft.com/office/powerpoint/2010/main" val="1713897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72324-D00A-4E7A-8207-F2855D08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658512-0699-4AC5-8338-7DCB06D9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3BDE8-03D3-4BFC-8EBD-DB0FC199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E9B3B-5C8F-4B09-AC7C-8B443336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07B2A-B83D-4B38-AB58-7D465391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6D138-E603-43F9-9FBF-03F95398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E0373-5C63-4FDB-92B4-C38B8031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赛题对齐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D572A-D783-4B82-979F-DC800C92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围绕 A14 赛题要求组织系统能力与交付成果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E0026-04A6-44A6-B0D1-92B933D7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从画像、模式识别、预测指标、分析成果与解释能力五个方向完成落地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E8B53-084A-4D60-81CF-B7CEF76B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F6BC5-9F6E-45FA-B4FE-59247165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9F1C3-96BD-45DD-BE6E-30AF7C91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39760-A318-4645-B12F-8990C15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3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F53EB-C659-44CE-A5FE-48D4FF9F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AECA6-32AC-4321-8336-7E526F19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0B71C-5A64-4B37-82A6-2046B7ED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10450C-C40D-434A-BC47-E8F2F339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736E3-3816-4E11-8A21-CC15BAAE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8 张分析成果图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6C28A-FE20-4036-AFEF-3226A763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系统已形成 8 张全样本分析图，支持点击查看图表解释。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CA870-8362-4ECD-B504-6F95B336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14B736-6F5D-4EBB-99CE-AC318894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114B5-DA9F-4509-8ACF-C416B002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C5AB4F-2891-46AC-976E-911D0A6A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37031C-0695-4CD1-85B9-6499B043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学生个体画像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73FD84-B6CD-4698-AFD9-54E2DE83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围绕风险、投入、健康、发展四个维度形成个人成长画像。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CD11A5-9145-41A8-A50C-3706D136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22ED7-9577-4AFF-9247-94C19D97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FDD789-7E6B-4804-A787-71FF251C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2E7A20-C475-420D-BBDA-58DEAAD0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403D73-9CB2-4410-BE9B-AC352B1B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学生群体画像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554389-6860-4D49-A273-BA125C15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按学院、专业展示风险率、主导画像与细分子类分布。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3BDAA1-E41E-429D-867F-5B8A7747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838434-DF48-44D9-AC1E-A2839756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D6DFF1-30F3-4149-A62B-3036A273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0FCD38-48B2-4FEC-B9FE-F06A2F2C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57226E-9F7D-490C-B19B-65904C7A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4 类学生模式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BB87D3-A830-490B-B550-828B89FB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识别高投入稳健型、低投入风险型、夜间波动型、发展过渡型。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559AAA-ADBF-466B-918E-9F982260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6EA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C98AED4-7D87-4BCB-B9D6-F09C1AC1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2D7F15-B1FA-4283-8336-C72DF370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293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B0E438-B012-4E1D-B38A-45D42177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9721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642333-FF4D-4BD0-9CDB-B1DAFB85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86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AUC 达标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0EF2C4-D031-4A83-8234-D87ED442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627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风险预测和英语通过预测等核心模型达到可展示指标。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9A223E-E922-4CE9-A47E-C8A2ED9F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81CBF9-A691-4AA8-8FA1-5B104404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BBE668-A10F-4762-945C-DF054307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293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BE24DA-2B9B-4E0B-93FF-CCB48BF2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9721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释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2F2779B-43BF-4B2D-B490-D8DBFD31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86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多维解释能力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03EA565-8129-41F5-8D5E-BDFF649E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3627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从学习投入、行为规律、健康发展、资源利用等维度解释结论。</a:t>
            </a:r>
          </a:p>
        </p:txBody>
      </p:sp>
    </p:spTree>
    <p:extLst>
      <p:ext uri="{BB962C8B-B14F-4D97-AF65-F5344CB8AC3E}">
        <p14:creationId xmlns:p14="http://schemas.microsoft.com/office/powerpoint/2010/main" val="913899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5843A-17C2-4306-BF9A-7E01AF43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0CF30-9B53-44A2-82E3-B0F188C7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C9C31-BAD7-4937-AE0B-E7212071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35F73-E987-4115-B4E2-4F0119D4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B5EEA-3F24-47EB-90A6-C7B5BC4A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53A29-1655-498E-B110-17D117C5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0D29F-D4ED-4B21-A671-E1DC1D34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项目目标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776A9-18CC-484C-BF46-4656E1B5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构建“识别—解释—干预—服务”的完整学生成长支持闭环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66B89-5570-4B49-A077-D50B4EBF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项目既满足竞赛要求，也贴近高校学生工作中的真实使用场景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E5660-ECAD-45F1-86D8-0044995F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B78747-FE7E-4BF1-A6F5-BBFCA84A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7F6A3-930D-438A-93F4-9E372745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11F2A-C7A8-40E3-8600-9ED9B6CB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4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0F2A2D-3F4A-482E-B928-CA02E8E9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C142F-3889-4EC1-A0E5-8A27DB87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统一接入学生基础、行为、成绩、体测与英语等多源数据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63046-3315-4868-BEF9-30AD4C5E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A443D-02E5-40D8-B98D-3FA0B04E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建立个体画像与群体画像并联动展示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9EC08-B660-4A4D-AE40-B8FA5D63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F2AF5-2BA8-4324-BD4C-8BBEBC8B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完成风险识别与多任务成长预测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1F1FDE-1CA8-438B-A064-500D28F0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8C83A1-251F-4F48-B60F-E6A8E122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生成个性化报告与可执行建议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547663-3379-4EF9-A232-C0781DDE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6830F-1513-4BAC-8257-F56426C2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通过 Web 与安卓端形成完整使用闭环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7B58E9-D65A-441E-9568-2488D032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09850"/>
            <a:ext cx="44767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66890A-D4D0-4DE1-A163-BA8260FF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76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165F5"/>
                </a:solidFill>
              </a:defRPr>
            </a:pPr>
            <a:r>
              <a:rPr sz="1350" b="1">
                <a:solidFill>
                  <a:srgbClr val="2165F5"/>
                </a:solidFill>
              </a:rPr>
              <a:t>闭环价值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189A31-E663-4683-B944-2077B49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5760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DEB099-A45F-4D15-A7E2-F70A2B0E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86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识别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840E39-AC8F-4AEC-9215-ABB95952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814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123748-E47F-43B8-8278-19D629BF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7E49CD-F4CD-451F-8089-82196F4C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86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解释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1AA8CD-C230-4F9C-893D-644EEAD7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B0A223-FE2B-4517-B275-49042D60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5760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7B4EAD-4561-465D-9438-3F2C18DB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86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干预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D168D7-A56F-4827-B920-224A7C5F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814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7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716893-F259-444B-B86C-09BF681A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57600"/>
            <a:ext cx="704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6837CA-BE59-4F97-BF15-8E740664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86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服务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C71514-46AF-4724-B8FC-3D920176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00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B91"/>
                </a:solidFill>
              </a:defRPr>
            </a:pPr>
            <a:r>
              <a:rPr sz="1350" b="0">
                <a:solidFill>
                  <a:srgbClr val="657B91"/>
                </a:solidFill>
              </a:rPr>
              <a:t>从被动筛查走向主动洞察和持续支持。</a:t>
            </a:r>
          </a:p>
        </p:txBody>
      </p:sp>
    </p:spTree>
    <p:extLst>
      <p:ext uri="{BB962C8B-B14F-4D97-AF65-F5344CB8AC3E}">
        <p14:creationId xmlns:p14="http://schemas.microsoft.com/office/powerpoint/2010/main" val="1264719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20E49-7501-4654-BF00-14D7C356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7B78F4-E598-4D9A-AB26-456E5009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B8F5A-21AE-433C-BF13-63B72DF5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896BC-EE33-47C2-975E-77F71AAF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4BFB2-8499-4780-B07C-5180BB4B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E030F-21C2-4F38-BC29-5BB35734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0C039C-B4B3-4527-B9DA-4BF097FB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系统架构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9CCAE-0CF6-4CD8-84EF-873F81A0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统一后端 + 双 Web 前端 + 安卓端 + 智能助手的整体方案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46933-7C35-473B-B605-2F7DF9B2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围绕 Flask API 搭建统一业务中台，支撑管理端、学生端与移动端同步取数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810D87-9350-423F-8B2E-A909DCAE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DBA72-585D-42B5-9A13-D3929FA4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EE881-D313-42D2-A429-075AE2C5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7BDE3-6EAC-4026-8955-49DA31AA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5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9784E-2A3E-4C2A-BD26-FEE12178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2457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D83754-436C-448C-8776-AF345DEA6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05050"/>
            <a:ext cx="249555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1E67C-62B0-446E-9087-E46EFCA7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47850"/>
            <a:ext cx="2266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F6769-BC6E-4294-AA63-93D34BED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2266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4D275B-3E84-448D-9B4B-4455DCFC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48150"/>
            <a:ext cx="22669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26BFB-2AB8-417E-AE53-B76FFFA5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1432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多源数据层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692F8A-F956-435E-ABCC-E1601882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57B91"/>
                </a:solidFill>
              </a:defRPr>
            </a:pPr>
            <a:r>
              <a:rPr sz="1125" b="0">
                <a:solidFill>
                  <a:srgbClr val="657B91"/>
                </a:solidFill>
              </a:rPr>
              <a:t>基础信息 / 行为 / 学业 / 体测 / 英语 / 奖助 / 竞赛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68CFE9-A256-44E4-89AE-A4F47E08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28900"/>
            <a:ext cx="175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223A"/>
                </a:solidFill>
              </a:defRPr>
            </a:pPr>
            <a:r>
              <a:rPr sz="1800" b="1">
                <a:solidFill>
                  <a:srgbClr val="0E223A"/>
                </a:solidFill>
              </a:rPr>
              <a:t>统一 Flask 服务层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D7A150-32D3-4887-B839-12C1A548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71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2F7740-0833-4BEE-98FB-79688CA7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051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鉴权与账号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34116A-D8AB-402C-999C-ED174EFE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95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8A1234-8EB8-4409-A1D4-C6B930FA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4290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画像与风险接口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58EC2-9CC4-48AB-B97F-C74FA591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9A837B-CCBF-4598-B877-8CD783C4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52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预测与报告服务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6534A7-3B5D-43FD-82F8-DB9D924F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433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513F81-98B6-4033-8116-0433D151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767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图表与大模型接口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5FBA2B-5AB5-4417-9443-4BA39640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526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管理端 Web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A2F687-279F-4F12-92F2-A0031F6B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0300"/>
            <a:ext cx="1847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B91"/>
                </a:solidFill>
              </a:defRPr>
            </a:pPr>
            <a:r>
              <a:rPr sz="1050" b="0">
                <a:solidFill>
                  <a:srgbClr val="657B91"/>
                </a:solidFill>
              </a:rPr>
              <a:t>总览 / 名单 / 对比 / 模型 / 分析成果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AE5319-4ABE-434A-8E15-DCBDADC5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528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学生端 Web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AED6D8-0601-462B-9D92-2F03B808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B91"/>
                </a:solidFill>
              </a:defRPr>
            </a:pPr>
            <a:r>
              <a:rPr sz="1050" b="0">
                <a:solidFill>
                  <a:srgbClr val="657B91"/>
                </a:solidFill>
              </a:rPr>
              <a:t>画像 / 预测 / 报告 / 智能助手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19D380-E16E-4804-A865-31CB15E8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5529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安卓端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679931-7E5A-4CC4-A65D-6BA7A2B7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006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57B91"/>
                </a:solidFill>
              </a:defRPr>
            </a:pPr>
            <a:r>
              <a:rPr sz="1050" b="0">
                <a:solidFill>
                  <a:srgbClr val="657B91"/>
                </a:solidFill>
              </a:rPr>
              <a:t>学生端与管理端移动化同步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BC93F5-A6ED-45C7-8F7B-46EE8150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3375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321121-F72C-44C4-B805-7700402E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860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0233C3-4D96-4AC7-A74B-A3C234CC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861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978934-5E0D-4ACA-9A0F-623AC37F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68630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</p:spTree>
    <p:extLst>
      <p:ext uri="{BB962C8B-B14F-4D97-AF65-F5344CB8AC3E}">
        <p14:creationId xmlns:p14="http://schemas.microsoft.com/office/powerpoint/2010/main" val="14752399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16382-9A70-46A8-85A7-09C99F8A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7FD92-900F-44EC-9C48-D740E5EB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528BB-ABEC-4B85-9DF6-CFFB2971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DAF48-6431-4635-8BCB-F7D89AF9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00C93-56F7-4EA4-98D4-EAB4BBE2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8DDED-D373-4BF1-9E8C-09E330C6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68878-959E-4957-9DDB-04BD7960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数据工程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D7BC3-3D70-49E6-A0E2-C1ABDB40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多源数据整合与特征工程形成统一分析底座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1DAF1-1EA9-4676-A793-CBCD6DD1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从原始业务表到训练主表、分析主表与特征表，建立稳定的数据口径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CA820-2A0D-46DF-828E-8EC4DDAB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EE8C3-18B0-4338-AC4F-59D8C982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127EF-E751-49DA-8241-7DB27449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D7CD8-D3AC-4083-88D4-E0AD9AE6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6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FC23B-1086-47DD-8F95-A7F7535F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43D8D-D81F-4135-AF3C-9B605A22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51726-3CD7-4FB0-88A1-C7929B8A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E1CD68-E311-44AC-B7AB-335D9445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0F118-4197-4C49-B73F-04AA5E80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基础信息统一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133139-7795-45EE-9D17-DC1BFD94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性别、民族、政治面貌、学院、专业、籍贯等字段统一对齐。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79EC0-BC71-4C70-B9CB-BCDBBBD0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8C5130-389A-4571-A609-15C1D7F3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D068B1-DE2B-4341-A50F-14C65E25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5D6189-9614-4E2E-A00D-36839D9E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63D393-49C7-4043-86FD-41090C79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行为数据聚合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68F671-1A4A-4606-9224-76BE7733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上网、门禁、图书馆、课程学习、视频时长等多来源聚合。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9F9664-F313-4259-95DB-0F982058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FF4781-8A4E-43D4-AD8A-0C627ADF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3A58-60C5-4BED-B1CE-3496FD04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3BF95-7488-4CC9-8C07-E0D9F4B5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7991FD-7387-4EFA-9AE3-90293C1D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学业成长接入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AD687F-F280-4F2F-A43E-BDAA69C2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英语、综合成绩、奖学金、竞赛、体测等统一纳入。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C98368-632D-42D6-97CF-48590C23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6EA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343486-C0F4-400B-898B-0BC4364E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C1535-C30F-4AFB-9E71-2C9CA60D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2F43F1-DA02-4A73-9A85-30C21D4F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0CE677-2E5B-4BD4-B194-E7781890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缺失值治理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E0DF4F-86FB-4258-A126-FB7F0E23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纠正将缺失误写成 0 的问题，页面明确标记“暂无原始记录”。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DE0C51-65F0-4D41-B82A-DA4B4453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532408-4391-4D5E-87F3-353E8412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B9C9C4-B1C2-4652-8AD9-C2D1624A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293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0D2175-0B9E-4642-9BA4-73A3D648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9721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D70FE1-9D52-465E-9F6B-3399EAD4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86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基本特征+进阶特征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C561EEB-7D54-48D0-AC55-81366E7F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627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只展示真实业务特征，不把派生展示字段混入核心特征表。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F7EBEB-1503-4E19-B9BF-CFE889D7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45F1CD8-031F-4308-A74D-7E94F6A1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49C488-50C9-4C0D-82DB-D81134E1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293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777BD7-C3E2-494D-AE90-5E63BC14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9721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审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BE7193-B0E1-418B-9659-50F25ADE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86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可追溯审计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4DE2C6-F824-4649-A8CC-AA53CDC5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3627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已回查基本特征与 data 原始表的对应关系并形成审计结果。</a:t>
            </a:r>
          </a:p>
        </p:txBody>
      </p:sp>
    </p:spTree>
    <p:extLst>
      <p:ext uri="{BB962C8B-B14F-4D97-AF65-F5344CB8AC3E}">
        <p14:creationId xmlns:p14="http://schemas.microsoft.com/office/powerpoint/2010/main" val="19584002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62853-102C-412A-9412-FAF62A6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A8029-7209-4DCE-A7AF-3E2C3185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933C0-89D9-44F0-B8CA-EA128859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CBAB4-D67D-412A-83EA-8B11DF33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0EB0C-AE87-448B-8C0E-04DBB6CA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A1EF3-26DF-4EA1-BCD5-D0074E67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A1E00-63F3-400A-A136-08AFA713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个体画像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C4200-BA9D-4987-BA02-96A91E11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学生个体画像：把行为数据转成可理解的成长视图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943B9-E3D8-4633-9CCC-BC04AD67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围绕学习投入、行为规律、健康发展与综合发展构建个体成长状态图谱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26D0A-EF6F-4766-BDCE-3E778B5E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1DAB4-EB70-4575-9D06-367CC5CF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00585-AA3F-4B25-8E17-FC852A30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190D9-C796-4722-9B43-4055AE4A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7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13DC4-8EAD-42F2-BC8F-D42F0ADE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34D4A-0B9E-4137-9BB1-6A6218F4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主画像：概括学生当前的整体状态类型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C36F29-9453-4FA6-8D4B-A3F7E6F4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E4C42-DE98-425E-A893-F222A5D6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432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细分子类：进一步区分同一类中的不同特征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26A99-246C-47EC-99B4-22F8ECD1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6F60D7-53AB-44F2-93EF-6E2F027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指标排序：展示优势项与待提升项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498908-CE62-4D71-8D98-3EC44D5D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00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CBE170-3F1C-4CA2-B84B-F89DB7CE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338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核心判断：告诉老师和学生最重要的结论是什么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69186-A08A-4FCC-A890-9D51CC63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95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9E4BD-F387-4E24-9F13-249EF0ED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29150"/>
            <a:ext cx="514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建议模块：把画像结果转化为行动建议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86F63F-AECE-41D6-8519-3E4F3356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8EA49F-41F0-4289-9D5C-E729762D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048860-B540-4043-BFF1-7C18E6E8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主画像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64840-7A0C-4780-AD34-4F531912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高投入稳健型、低投入风险型、夜间波动型、发展过渡型。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298D34-2FA7-4C46-9E10-B15DE315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098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C96E2-F3DB-410C-ADE6-6BAB17A2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003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10FAD-FDAF-4221-8760-72B2907D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D1E138-5185-4326-BD0A-30CE0674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7305FB-8191-4650-8593-58357166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29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细分画像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586EEC-BBC7-4F30-808A-65CE8231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如资源活跃稳健子类、节律失衡风险子类等 12 类细分。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D8D6FB-71C9-40A6-9329-BA687CEE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481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0797C2-2427-41C7-B425-26DB02EE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3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7D523E-81FD-48E6-9E6D-FA56BEB5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B2EEC6-E09E-4DE0-AF4D-E0FE8EE3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1804D9-C11E-4996-92AF-F4B46F08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画像解释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1E9353-2A1E-4EF1-B8B5-9C0F6A69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102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已在管理端与学生端加入统一的画像说明入口。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03F191-29BE-4191-AC7D-C3B9396E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0863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1370C4-1252-4D83-8CBF-A4904D8B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2768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释</a:t>
            </a:r>
          </a:p>
        </p:txBody>
      </p:sp>
    </p:spTree>
    <p:extLst>
      <p:ext uri="{BB962C8B-B14F-4D97-AF65-F5344CB8AC3E}">
        <p14:creationId xmlns:p14="http://schemas.microsoft.com/office/powerpoint/2010/main" val="15253647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B78DE-6C77-479F-80A2-043E7A83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D5D2F-9C58-4935-A275-3A489CED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84873-2456-4451-92AD-A67C559D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FFB1A-AC67-4763-8A61-AAE6B45F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FAF1D-9869-4B88-A646-675B0897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3428D1-941E-48BA-9258-8D0E873E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CE088-5842-4782-9A80-FC62E255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群体画像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39484-D362-4E4F-B2DA-837271C7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群体画像：从个人走向学院、专业与全样本视角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70B8A-46E7-432F-BCF4-55CFF6B3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支持按学院和专业维度查看高风险率、主导画像与主导细分画像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7FEE75-5074-4759-A9A5-7D0495C8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37A2E-208C-4BE8-A709-93D5C003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E2FEC-B942-4272-B818-E4C6181F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62CED-F868-47D8-B9EC-9FE9E5C5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8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9A42C-48AF-455A-9D58-FDA3B944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F9CB1-FCEE-4FFE-9310-B8ED895E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3825D-C042-49B9-9D09-30B1AC0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分组维度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E6937-DAF7-40A0-ACF7-5840DD4A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学院 / 专业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D0E48-BD68-416F-9FF8-F619D71D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支持切换查看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32D0D-EAAE-4C09-A454-62182F50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53E4A-8FC7-42D3-B743-BCBAE49B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2AE319-3919-4F9D-95EF-E70370F1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核心指标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88D10-5E3B-4B28-A05F-C8B78097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风险率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24F03-39E7-4F5B-B429-5C537079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高风险学生占比分层展示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F3C33-7D31-4A47-B958-5F5B9F3B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9BA39F-CE86-4EB8-8771-512A07DD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3CD2F7-924E-4E97-9C94-90C67578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画像结构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F660DD-CD78-499D-AAA2-3DB33BC3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主导画像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33AB82-49DE-45FD-A710-510C78F1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显示人数最多的画像类别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9FB0D7-0CC9-4488-B266-129E30C2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A4B6CE-9543-4254-86E0-65AB0FDE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0DB116-CCDD-4251-925F-BA7F23C8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细分解释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18694C-E9E2-43A2-8688-83090D3F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主导细分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ED040E-20B7-4781-ABCF-DEA82AB0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每个细分画像都带解释说明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D4646D-9F83-4CF5-8DA9-D0A2BD0C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287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84D"/>
                </a:solidFill>
              </a:defRPr>
            </a:pPr>
            <a:r>
              <a:rPr sz="1500" b="0">
                <a:solidFill>
                  <a:srgbClr val="23384D"/>
                </a:solidFill>
              </a:rPr>
              <a:t>系统已经明确区分“高风险率”和“主导画像”不是同一个统计口径，避免误解某学院既高风险又高投入稳健的现象。</a:t>
            </a:r>
          </a:p>
        </p:txBody>
      </p:sp>
    </p:spTree>
    <p:extLst>
      <p:ext uri="{BB962C8B-B14F-4D97-AF65-F5344CB8AC3E}">
        <p14:creationId xmlns:p14="http://schemas.microsoft.com/office/powerpoint/2010/main" val="14437373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454600-6AD0-4C4D-AF1A-2A2B6826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C75D7-28AE-42B9-B948-51EA83F1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FBD1D-24A6-4D7F-9A6E-0FFFDA60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B7AEC-0DB7-442C-8FC1-C0861AC0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D541A7-2BB4-406A-9D28-7D067334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12288-4E55-4D46-A918-D9492D8B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8C91A-52A0-4267-A8F5-76529B63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模式识别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BFEC1-1430-49A1-9669-49947018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4 类学生模式 + 12 类细分子类提升群体识别精度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1758E-A6E5-49D4-83CD-392385FB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系统不仅告诉我们“哪一类学生”，还进一步说明“这类里具体是哪一种”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1BE5C-7DC8-4874-9D21-ED67BB43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B6DAB-CCDE-489D-BD08-A1C62109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EF63D-801F-427E-88CE-D2699299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198825-0FB4-4267-AA11-A0FB403D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9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E8C258-7463-4637-B736-9E693A11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35406-410D-4396-8C2F-3BAC98A2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D96ABA-7F1A-4D66-ADFB-42AB4D8D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9DC5D0-8D51-46BB-A38A-0768590D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BF3DE-BE92-4FED-82D2-CB7A0D0A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高投入稳健型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B1E10-2C87-4DED-9070-8B552939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整体投入高、状态稳，包含资源活跃、潜力释放、节律稳定等子类。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1A058-D46D-4284-BEA2-265B74D7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6EA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EC949-9FEA-4E94-B0F5-C6E8C6CA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B8FC8C-F3CE-4452-B44B-E104AD04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925CC-2FF0-45B5-9BDD-39EEAA1C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7E814E-F1D0-4CC3-9025-67C889EE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低投入风险型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9062A0-4405-486C-B5D0-A3D989E8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投入不足且风险敏感，包含资源稀缺补强、节律失衡、基础薄弱等子类。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FAAD4-B465-4FE9-8A39-6E1BCF1B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400D0A-377E-42C6-B6AF-782A6C43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B0BF71-29FF-4E3D-9679-E058113C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E5BE28-9FCE-4220-AC81-641ED0F3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00D182-4857-4BF8-A043-8173DDF6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夜间波动型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9B59D1-FE8F-4550-BA4A-72F903F7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夜间活跃与作息波动明显，需重点观察节律偏移与波动风险。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A806EB-23FC-4E79-A3AB-56DB6043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07F9AD-0FD2-4B5E-B244-CF72D346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02F53-98F7-444A-BF07-4E8C64D4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1138F4-F6F1-4AE7-B907-AB0F69EF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01229C-DCAC-406A-B819-B852961C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发展过渡型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351135-8E12-420D-B6E2-3378E006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当前处于适应与过渡阶段，强调成长潜力与状态稳定。</a:t>
            </a:r>
          </a:p>
        </p:txBody>
      </p:sp>
    </p:spTree>
    <p:extLst>
      <p:ext uri="{BB962C8B-B14F-4D97-AF65-F5344CB8AC3E}">
        <p14:creationId xmlns:p14="http://schemas.microsoft.com/office/powerpoint/2010/main" val="14300927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BAD98-6A3A-48D6-99A1-BCA246E2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238EC-5F31-4833-82A8-7BC64416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B1F75-D8EC-4C6F-88D9-49B88630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278A0B-B01C-4709-A862-1B30B8C2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681341-A779-4B6B-9A85-D40E89C0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62177-8C12-49D0-AE8D-4B2C9A95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340075-1F9C-4178-A3A7-453A73E3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核心模型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ECB9F-34B8-48CD-BC14-A95119DD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风险预测模型：作为系统的核心判断引擎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C7D37-CC5C-4032-8DCC-61884DB8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围绕风险识别建立核心二分类模型，并作为多个页面的统一风险来源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0AA80-A9AA-4C65-B367-C701A83F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0DF6E-FB01-4975-97E2-46E508EB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7AB24-B2C4-433E-932A-1F0E4DF3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DAB9C-3981-46F6-8A95-CF1718A5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10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C8DF6-4044-4CB7-A5B5-052B52E1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A62DD-AF34-4317-89E5-D993BC69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0DF1B-4FF2-4176-B3A2-C2310594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风险模型 AUC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96CA35-ED7C-4A77-99DE-340F8F06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0.921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554EF-04B8-4E7B-841A-364F06EC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满足赛题要求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AC653-BE11-47CF-8D6B-F51F2195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0B291-E948-4BB5-88C4-D5135DEC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4717C-D42F-48D8-852D-7F545E29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交叉验证 AUC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EE621-C462-4D81-A057-5866F144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0.936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3A6B73-D6B1-43F3-95FD-8B205E3E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表现稳定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9FB242-7EAE-437B-9593-647ACA20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5CFF5-2CD2-4A0F-9350-AF7E1277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D1B58-0CCC-478A-A72C-421E2FDD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口径统一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58EA0D-A5C2-479F-9B11-B2C3D62E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已完成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E8BD40-7F11-404E-9CE7-BF28047C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区分概率、标签与画像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B86EEC-BCA5-4B98-9DBF-F5828E15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B99186-E0B5-4550-B539-A546BD90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54C982-17FF-456D-A3EE-79CE45C9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展示入口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09A848-CF04-4EF6-9D08-AE1FF04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多页面联动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163187-7A0B-433C-8C08-FC7D28D5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总览 / 名单 / 学生首页同步展示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CED44D-20E5-4DA4-AC58-AE7C408F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9A10A8-1AB5-4A7E-A4E0-941116D3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风险预测是整个系统最核心的模型任务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D264B2-9050-459B-AB3F-C063D9F3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38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954502-F060-4119-9E03-4097B027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结果同步服务于管理端总览、风险名单与学生端首页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285309-4100-461A-A9B7-13D12A6A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14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CFDE01-313C-41EA-A10F-FCC4163E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4825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系统通过解释因素与画像维度增强结果可信度</a:t>
            </a:r>
          </a:p>
        </p:txBody>
      </p:sp>
    </p:spTree>
    <p:extLst>
      <p:ext uri="{BB962C8B-B14F-4D97-AF65-F5344CB8AC3E}">
        <p14:creationId xmlns:p14="http://schemas.microsoft.com/office/powerpoint/2010/main" val="1340503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2D93F-590D-4008-968B-4B34D75F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15ACA-9545-415D-A7DC-3A1C2D24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45F7DA-E762-4679-B871-FD5E00AE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428F4-6DE9-401F-951E-CAC82C53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3C21D-67FC-4213-9FAA-8A452DF8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5C10F-149B-4560-B764-2F9076CD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8CEEB-8B06-40FF-8FA2-62099D60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扩展模型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D59EE-47C1-4842-898A-A6743F35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多任务成长预测：从风险识别走向成长能力判断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A47B1-1475-4A34-B618-1635C9A9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围绕奖学金、英语、成绩、健康、趋势、学习投入与综合发展构建多模型体系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3D98C-68D2-4203-A5A4-F25D6007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C5D81-AA67-4ECD-81AC-9211FA1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8849C-9633-43AF-ACF4-FDBC650F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403D1-3EA2-48DB-98FF-2AC19373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11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9CBD1-A364-4B7E-86F1-14273811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B471A2-65C6-47FD-86FB-760ADCC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89D96-C0CE-47F9-B069-C7746ABD6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DD88D7-FCCA-4AF0-888D-BDBA9300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D9A450-BB1F-456B-AA41-FB4A6324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奖学金概率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0A61C2-C7E6-49E5-8D2C-EC3AE5A4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辅助识别成长机会与高表现学生。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E4836-F221-42EA-8977-B68D9AAA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4BA1FC-24BA-424F-BE32-7171F28D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D6C267-16EF-46C3-AB7C-886AD761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A7C7DB-6745-4870-B4A4-A7D23FB5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D1B6B7-65ED-49F9-9A8F-B4C7CF02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英语四/六级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A89CB0-4B3B-4E1A-89F9-6C249EC7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四级 AUC 约 0.865，六级 AUC 约 0.989。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0BE74D-A6E3-419C-AABD-2AA61B23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F0565F-EAEB-43B7-B8C9-4F97183D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D35652-8BBC-458F-BAB4-2ECA4696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2B974B-1668-4E68-817B-71F15994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80A4F7-F225-42C4-882B-1DE5B5C2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健康分类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ECCE62-76DF-4E5A-B030-DBBF3CCF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Macro F1 约 0.75，避免特征泄漏后的合理指标。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B1B58B-6EA9-4356-BE70-C42341EB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8685CB-4EA4-4562-B570-3DC8B112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A892A3-B32B-4700-9935-8FEC5FC8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51952E-A703-4107-A113-FD92E06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D70B59-095A-43FD-B435-700502FD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学习投入分类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767E27-F582-4BA1-B456-F1BAC176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Macro F1 约 0.92，用于判断投入档次。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7D154B-E883-4434-9912-E3B32FFD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6EA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39927D-7AD7-4AE8-9688-43596FD9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6AA014-632C-4E88-9400-4C145F76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293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D57F4F-872C-439F-B9FF-FDB801E8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9721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93A528-D14E-411D-8369-F45D1330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86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综合发展分类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B88632-F6AD-4B4C-B7D5-12B21CD3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627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Macro F1 约 0.90，用于反映成长潜力。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8BE828-B85C-4FC2-AB46-B4F74717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11CBE3-64B5-461A-92F0-165AB38B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40C866-02A8-4423-95AD-A8BC18F1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293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F21D4A-7735-4C39-B1A1-CACF8605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9721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36569E-DF9E-4E22-B531-A3804BDD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86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变化趋势预测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6231E6-799B-4F37-91B9-82EE1363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3627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用于观察未来状态变化与持续跟踪。</a:t>
            </a:r>
          </a:p>
        </p:txBody>
      </p:sp>
    </p:spTree>
    <p:extLst>
      <p:ext uri="{BB962C8B-B14F-4D97-AF65-F5344CB8AC3E}">
        <p14:creationId xmlns:p14="http://schemas.microsoft.com/office/powerpoint/2010/main" val="1867004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822B8-39C4-4B3C-8EFE-6D81FC61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9BA1B-06B9-4B25-9BDA-D099249A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7A57F-CC4B-4C59-9B4B-695924B2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D7CB9-CCDE-47E9-B8A6-3BDAE260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B5913-41B1-4D4F-9655-50342B05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2ED6B-4CFB-4B35-8580-04E0FBE2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27AEC-9189-4E8B-876D-C7FCE8F6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可解释性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3BEA4-7087-4DE3-94EB-AFA3CC6F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结果不仅有分数，还能解释“为什么”和“怎么办”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D4E89-82AE-42C7-893C-0A8D233A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我们把模型输出、画像说明、关键特征与建议统一组织成可解释结果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EE1FB-BA0F-436D-8C55-81B9D036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EFA81-809F-4872-8685-CE5108A7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BB42BD-3C83-4FB1-8097-9EA9A4D5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35382-D8FD-4738-AF2A-EF73B744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12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1100A-3B7D-4599-9D07-28285388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8C2248-0EA4-4A83-B7EF-2E2F9E0D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9BE47-7F4C-40A2-BDF1-F7AA3862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关键影响因素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D87F2-90B2-4946-A649-5AC128D3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展示对单学生结果影响较大的核心特征。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10CF9-DE16-4970-A0D1-AAEDD583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098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1119E-A0BF-4567-A9FE-71A927C2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003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5EF9EC-56F5-47C4-8797-B7F7340A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C3B687-0E66-44FE-BE8E-AB1D463F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F86B96-E433-42A0-BA57-9C794F8C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29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画像说明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0863F-8903-4573-BDBC-87DC9FAC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解释主画像、细分子类以及对应管理含义。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6535BE-B332-452E-9774-2C96C639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481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956BB7-68F6-449D-9D46-FF87B996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3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54D63-851C-4372-91CD-42226731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563C09-DB4A-45FC-84AF-06BA4341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74FAAE-7F58-46A9-B012-C995BE7F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干预建议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FC3ECA-D96D-48CC-AF37-2BB013AA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102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根据个体画像和风险状态生成可执行建议。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E59BFD-8A4E-4DDD-930D-553062A0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0863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CD0A54-F293-4247-A255-D0DFCC7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2768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AFF5D-8F70-40D6-ACD0-94FF8CEC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19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BCF110-52F5-405C-8639-FF39A2E9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满足赛题对多维解释能力的要求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6D500B-EAF2-4951-90C2-B676533A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DF1481-B62D-476C-8664-8399B3EC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在管理端和学生端都能查看解释内容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A389A5-20FE-40F6-8899-912961E5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D31AE4-A557-4665-BB4C-B76D5191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让“预测结果”真正变成“行动依据”</a:t>
            </a:r>
          </a:p>
        </p:txBody>
      </p:sp>
    </p:spTree>
    <p:extLst>
      <p:ext uri="{BB962C8B-B14F-4D97-AF65-F5344CB8AC3E}">
        <p14:creationId xmlns:p14="http://schemas.microsoft.com/office/powerpoint/2010/main" val="4306646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61F9F-9E6B-4767-BFAB-AF4D9F37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FD433-03FB-4188-8083-917A88EB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FCEC9-3BCF-4D3B-BEA8-270361D6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AD94A-DA95-4754-A95F-FE65B694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EAC28-F397-4307-AFE9-130EB604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AD973B-E59D-4BA7-8ED2-6C646A19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B6372-D478-43A2-B860-86699547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分析成果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FE510-2655-46ED-AF37-83A7E2AF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8 张全样本分析图构成系统级证据链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CCC1B-FD96-434B-A71B-4CDFF9A80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从群体分布、结构差异、趋势与重要关联四个角度支撑系统展示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9DF5E-0DF1-43AF-AE42-9DCBB0A6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C0E27-FCF2-45BC-800C-04C70A60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DEEAA-6E7F-48C3-A3C2-D1F0D906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1A25F-633D-4055-8144-2E8A1B1B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13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2FF27-F38A-4654-A8B9-48DC6333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6B81C5-8BF6-4994-BB34-F03C986A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5F251-640C-4B08-844C-E756BF7C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图表数量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0D733-DB3A-49E9-8543-F0D15838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19B498-8B46-4433-B31C-FFF8A779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满足赛题要求区间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A2936-B4BB-4527-8A18-B2DB4D85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B3B676-FD6D-4E9A-9BCC-91E9DA9A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21BF8E-E5BD-493E-B1EE-54D63A16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查看方式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708F3-57D3-4D3A-9868-E1142CFE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点图解读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7F67D4-44F4-414A-9D8E-A325825A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图卡 + 抽屉解释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5E5E6-0B12-4044-AFB6-7B45D83E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9F9698-DE53-4EC6-A46F-3858B938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E3C4F-837D-49CA-ADCD-D12C2F42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跨端能力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A6CE1-DE3B-41DC-9103-2500FF02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Web / 安卓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E0BC39-821D-4291-BEAD-D375DBB9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两端均支持查看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5C4677-9ADA-4B87-8865-04DF2514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EEFCEA-AC89-4886-B79C-829BB6FC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7CF72-445F-4137-81DB-531BB460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分析维度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51A4B0-D242-4017-86E7-2F849F48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多维度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07275D-AE07-4821-B6C8-124F9B35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风险 / 画像 / 行为 / 资源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54BE92-9861-442A-91C7-95C43A58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B9945C-B7D1-4DDC-8BE1-3F1D4CE8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支撑群体画像、模式识别和整体趋势判断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E09F6B-F6C6-4E67-9AAF-53B3D355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59EC56-2E8C-4195-B7E3-62C1B06F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5295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帮助老师快速理解图表看点，而不是只看静态图片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92975B-9A9E-46CB-887E-4772F71C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76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184146-598C-4922-BFF0-15882652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1015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点击图表可查看横轴、纵轴、图表用途与系统结论</a:t>
            </a:r>
          </a:p>
        </p:txBody>
      </p:sp>
    </p:spTree>
    <p:extLst>
      <p:ext uri="{BB962C8B-B14F-4D97-AF65-F5344CB8AC3E}">
        <p14:creationId xmlns:p14="http://schemas.microsoft.com/office/powerpoint/2010/main" val="1498149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9107AC-2488-4FB6-9D07-81C16B40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52E22-1C2C-4715-8A4D-4A48B48F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CA01A-58B8-4011-9167-5FC1538D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B7445-F608-4907-ABAB-720D29D5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AF459-3C6A-46C6-B0F7-E308516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0EB55E-864A-456E-AC87-D9E666FA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1A8BC-16FE-47A4-9E43-6DD86AEB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管理端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F4F23-8C40-48A3-BF89-A0F9F0E7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Web 管理端：从总览到单学生详情形成完整管理链路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BDF47-2036-486A-BBE1-25AA6083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面向学校、学院和辅导员角色，突出全局看板、重点名单与深度报告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40068-EF00-4B42-9D32-A61FF653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2F4F4-4740-4B17-A168-22B667F8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F349D-38C1-4766-A055-9B82008F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0A362-BD62-4111-A27A-C2B4983F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14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9C113A-4A9E-4DA7-8C4A-8D8B7FA8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01ED93-C40C-4D65-A24B-5AABE799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9772A-88D6-437E-B1DD-512906B1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31E899-19E8-4D15-B47E-780BCD76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14447C-DA81-4A3B-8612-1B986BB4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总览主页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371DF-EFFA-4255-895A-73D12B98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样本总量、风险分布、注册覆盖率和重点学生一屏查看。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74473-27E2-4D31-9039-9625D9A4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6EA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C83FE-F9B6-486B-AE82-8E5C642D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618026-5178-4286-AE1D-97BB80CF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EDD1EE-F90D-46DD-BEC7-4D5A8497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2C697-A49D-459F-9F65-20639273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风险名单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15FCF3-810E-407A-A66A-3F82ECC0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查看重点学生并进入学生详情与完整报告。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B30570-D87F-47BF-BCD1-262CAD92D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01ACB-F155-4599-85F1-21F4FCEC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120518-EB91-4D12-9F7C-21C33E9D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61F590-10A1-48FD-A953-477EEEC3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05BE6-D010-4B7D-8467-1FC15B26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院系对比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0D1134-9BB9-4656-85F5-103BBA76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比较学院风险率、主导画像和主导细分画像。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B9BD04-879C-4892-AC93-E701CE5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07EBDE-8088-4C25-AA7F-F46378BE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A35C47-3B27-41D1-B9D6-87B5D7F9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D3579A-BE8F-407B-AC6F-26696EB6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7935CF-73EF-4856-8341-060DB47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预测模块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397CA8-DE36-4978-A278-E2ED4FB5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集中查看模型指标并检索单学生全部预测结果。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58C442-6599-4F75-BE28-266349F3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C54D4E-69A8-4A04-835B-5D12ABE8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154211-6A73-4ADB-A5C1-36A672C0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293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543BDA-7F49-497A-B203-EC72AC18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9721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DE5373-449B-47AE-A15A-C087017C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86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分析成果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B6B945-74BD-4A9F-A881-A035670D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627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查看 8 张图表及其详细说明。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49E5DE-0B97-4199-94F2-38B312CE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469FE2D-8825-4705-AF84-442BEB7E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79753D-5EDE-4841-BF54-AAB48D02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293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B6A3C9-F203-4DEC-B663-0880D8C9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9721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DE5EB0-88AF-43A9-9CC0-2DCAD2DF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86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完整报告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C684EA-FDCD-49E9-BE68-75984669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3627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结构化呈现结论、解释、建议与关键特征。</a:t>
            </a:r>
          </a:p>
        </p:txBody>
      </p:sp>
    </p:spTree>
    <p:extLst>
      <p:ext uri="{BB962C8B-B14F-4D97-AF65-F5344CB8AC3E}">
        <p14:creationId xmlns:p14="http://schemas.microsoft.com/office/powerpoint/2010/main" val="16909102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3B072-E796-4673-90A3-EE1934CB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5A856-D760-433D-BEE4-27740BC9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9C012-1369-48CC-90FD-C423ABD0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4432B-75F1-4B19-95F9-6FC37109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0028C-725B-479E-B701-61BD34FA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ACD6C-1EF5-449F-B091-E03CA6EF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04D1CD-AA76-4D61-AACC-9BBF994D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学生端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DDF4C-0DD9-4EF9-BE59-80639825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学生端：从被管理对象转化为自助成长参与者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B3AEC-022D-4AE9-87D0-DCD98FCB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学生可查看画像、报告、预测结果并通过智能助手理解自己的成长状态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A3D82-FA8F-4103-9D91-621FD3FF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EF14F-CBD5-4893-AA69-95F21D4A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A928B-90AB-4DDB-8D3E-8FDD990A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FEA12-6B00-444B-8806-D4AD7D29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15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8FEAC-8E7C-4858-8548-F228D9F1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629DE-99A3-4B4D-8BF7-DF7CD4AF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C4590-228B-4A6D-BFCE-77A28189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76AEC-E177-425B-8D7B-5BB0BF42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214050-FDC8-495B-802A-E0BEF713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我的画像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58721-EF3E-48FE-ACD6-0099C214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查看主画像、细分子类、优势项与待提升项。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ADF9ED-2729-479C-B1D2-1709DC5F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3CB27B-C495-4975-8BAE-D5290F1D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71317F-7AB0-4765-8445-6DE3A2B4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EF34B9-6B73-404B-95F4-6271347C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2A84ED-8B3D-47A4-845A-9A44CE09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在线预测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CF404-A97D-40B6-A780-A19FE983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输入关键字段后实时得到多模型预测结果。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C798A-8D75-4063-9698-1C4769E2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08F4CD-11A7-4A25-A783-7B807726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E4FF80-F0B0-4082-B528-B25E1972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1FCE04-FBB2-4F33-B07F-AE44D4E3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ED4F84-7BB8-43DB-B852-B73C3C21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群体对比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1AF25E-1654-4535-ACE5-EE9A2903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比较个人与群体均值的差异。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E7BAB5-36A5-4DFB-8FB3-F7E21C73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93FA07-9B19-4F0A-B635-3371577EC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7ADE1C-D784-43AD-BC8E-4C6D98F5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35D09D-BD88-46D1-827E-1FC3BD73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4A76AB-DCF7-4066-B70A-F0C5F80E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个性化报告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A7B9D2-CCB9-46A2-8AC7-02F4710C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集中查看结论、依据与建议。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BC382C-79C0-41AF-87F9-ABCA7C9D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6EA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BB24A4-692C-489F-ACBC-2EC2943D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4656F40-4E5D-462D-9856-ABF00165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293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2A11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8B553E-66DD-417C-804E-12A76C77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9721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E9C8D9-B415-4524-8D7B-CA3E5309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86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全样本分析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AE4A00-8BE6-4745-B103-2353C3A6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627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以学生视角理解全样本分析成果。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402E39-1C43-4EF3-8A75-42729F93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0AD9B6-DEED-4392-919E-6D22E94E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2421F1-0CF2-42E0-ACDF-F27D2FDB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8293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2836BA-6CA0-4BEA-A27A-F4861054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9721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A5441B-077C-46F1-B506-C5CB3B53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86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智能助手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39EB59-9E23-4FD3-96F2-C2703DF5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3627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围绕画像、风险与系统功能进行问答。</a:t>
            </a:r>
          </a:p>
        </p:txBody>
      </p:sp>
    </p:spTree>
    <p:extLst>
      <p:ext uri="{BB962C8B-B14F-4D97-AF65-F5344CB8AC3E}">
        <p14:creationId xmlns:p14="http://schemas.microsoft.com/office/powerpoint/2010/main" val="11566435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D4302-F2A3-44E8-8089-69B39668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8A854-8570-4B2D-A9A2-B81AC82D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65FAC-85A4-4D00-AEFA-7533C13B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C4928-AA5F-40CF-AA7F-57FA7DB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3F8D9-0AB2-4A0B-AC52-DF5811DF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B7AE1-6930-49C4-8A24-D851294B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280CC0-C3E2-4B40-B0C3-5658E190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移动端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F7F56-2A48-42F2-A0CD-8508B672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安卓端同步核心能力，形成可展示、可运行的移动闭环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ABC37F-E792-4EBF-93C9-0F3FE788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学生端与管理端都已完成移动化重排，并统一到“知行雷达”品牌风格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F5CA4-7E0F-42EF-AB17-19AB3EF6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1A0AD-AD5B-444E-9346-2A7F5626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C2B28-3A23-4E61-93DF-683DD2013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42C99D-21A4-4E82-AFB2-F3A5DEC3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16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42641-8E45-4008-938B-6DCF959F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901F2-6B4D-441A-B663-10CF4A28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1AB47-BEFA-45D3-81E1-C7926F2E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学生端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7A885-A877-4005-9E1A-D69BC055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已同步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0C055A-C4A9-4FE0-BC7F-DC6A629A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画像 / 预测 / 报告 / 智能助手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2FC96-120A-480C-89C6-F6BCDCC7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13517-67FD-4C53-AC45-BB46AF1F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76D40D-5D2B-4227-94FE-AE091874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管理端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79C1F4-065B-48D7-8AF2-0DAD4CAE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已同步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2B80F3-B37A-4B4E-9AAA-E6EB2E83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总览 / 名单 / 对比 / 分析成果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44B12A-6263-4C9E-9109-1FB23441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C328B-7EB6-4D9E-B9E5-CE49170F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AF5CC5-A639-496B-80E5-9899D930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品牌统一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8B8DBB-9F89-491C-B1ED-0ED1339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知行雷达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579C4D-4D26-46AE-9E05-63F4CBAA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图标 / 名称 / 导航 / 主题统一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8CD2D5-A0DA-4F64-83AE-15573FC2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476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6CBB2A-2B50-44FC-B562-B1EE3BB2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38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A66EC1-C218-405B-A055-00E8BD88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57B91"/>
                </a:solidFill>
              </a:defRPr>
            </a:pPr>
            <a:r>
              <a:rPr sz="1200" b="1">
                <a:solidFill>
                  <a:srgbClr val="657B91"/>
                </a:solidFill>
              </a:rPr>
              <a:t>交互重排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654B78-BFFA-486F-A919-B3C6C858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432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移动优先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0C505B-5D4C-4EFE-B24F-40A4AD69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B91"/>
                </a:solidFill>
              </a:defRPr>
            </a:pPr>
            <a:r>
              <a:rPr sz="975" b="0">
                <a:solidFill>
                  <a:srgbClr val="657B91"/>
                </a:solidFill>
              </a:rPr>
              <a:t>不是简单缩放 Web 页面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CF42B0-4108-4430-AC83-609E56D3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1009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384D"/>
                </a:solidFill>
              </a:defRPr>
            </a:pPr>
            <a:r>
              <a:rPr sz="1500" b="0">
                <a:solidFill>
                  <a:srgbClr val="23384D"/>
                </a:solidFill>
              </a:rPr>
              <a:t>移动端采用更轻量、更简洁的浅蓝白科技感风格，同时保留图表查看、详情页、预测页与设置中心等关键功能。</a:t>
            </a:r>
          </a:p>
        </p:txBody>
      </p:sp>
    </p:spTree>
    <p:extLst>
      <p:ext uri="{BB962C8B-B14F-4D97-AF65-F5344CB8AC3E}">
        <p14:creationId xmlns:p14="http://schemas.microsoft.com/office/powerpoint/2010/main" val="14986774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18DF8-E6BB-4CE8-A95C-85E9AAEA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61C97-7E59-4118-90B4-ED68A60A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A6F56-52D3-4355-992B-7527981D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DB09C-B841-4BA9-B608-A75301B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13650-0194-4EC7-B207-68D7295D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C214-1DC5-4014-BDCA-1BFB90E5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DF8B2-0B93-4005-B24D-C9E66A41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智能服务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1297C-4B96-4BE7-9270-646AC480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接入千问大模型，构建可对话的学生智能助手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4EB76-AD16-4C2D-9AA4-7D2143C8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把静态系统页面扩展成可解释、可问答、可引导的交互式服务入口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C7E36-0B7C-4D1A-8EB7-861C5C37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21BC4F-BE74-4B3F-BB86-4A1C538D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19691-2899-4DA8-A6AD-AD72F023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F7A04-5CD4-4906-975E-44A9A08A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17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2479D6-CDAD-45EB-8E8A-1A9E2770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C6842-1522-43BD-8785-2CD53339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3D987-0A2C-4C65-B3D5-9FFE10F0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90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画像问答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91BE8B-A23C-4D4F-9BE6-F836B6F9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337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解释学生画像、细分子类和风险等级的含义。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8A880-A9B4-4C97-83FD-E76C9408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6098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00AA9-4C75-4879-B610-8CD908CC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003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42906-BC27-402B-8903-C968CEC5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01757-A4FA-4898-A247-2569FBE2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3855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C34C0-1FEF-40F7-AD9D-351C2C83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290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建议生成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AE12D3-2B47-4DFC-B440-9F43F9B5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结合当前账号数据生成学习与提升建议。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3C7C21-F761-4C86-88D6-612D3D77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4810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0500FE-189C-4D31-B9A4-970FBD9D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03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FA4B46-3F65-4C97-859F-7FA4F504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4514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0D7BB-D8EE-4952-8571-296EF5D6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76800"/>
            <a:ext cx="451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2D5ECC-1D0F-4CBA-8DC8-E32E42FE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223A"/>
                </a:solidFill>
              </a:defRPr>
            </a:pPr>
            <a:r>
              <a:rPr sz="1650" b="1">
                <a:solidFill>
                  <a:srgbClr val="0E223A"/>
                </a:solidFill>
              </a:rPr>
              <a:t>系统导览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1ED995-75C1-4062-A985-6EB8499D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1020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帮助学生理解各模块功能和使用方式。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EADCC5-840C-4166-8F8D-9137C096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086350"/>
            <a:ext cx="6477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8CEF44-2704-4861-9AC2-CCCAD3C5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2768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253D33-44D4-4283-9991-C43C1D8A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38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3C14B1-BDB5-462D-9C6C-CE3B39E2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后端统一封装大模型接口，Web 与安卓学生端都可访问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CA727E-FEA7-49A5-8530-603E0A94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EE82DE-CD2F-4D5C-9304-FB98FEAE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保留会话历史，支持围绕画像和报告连续交流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696433-EE18-4230-84DE-70A00AF5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29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F318DE-4BD7-4227-9476-7C001A46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624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增强系统互动性和展示亮点</a:t>
            </a:r>
          </a:p>
        </p:txBody>
      </p:sp>
    </p:spTree>
    <p:extLst>
      <p:ext uri="{BB962C8B-B14F-4D97-AF65-F5344CB8AC3E}">
        <p14:creationId xmlns:p14="http://schemas.microsoft.com/office/powerpoint/2010/main" val="3257363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6AB9A-0DFF-4CAB-9C4E-EF306512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B150F-3D7E-4AF4-B8F2-F10684A5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431B3-9056-4322-BD8D-218E757C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75EEB-C1C5-49E4-A9B4-29A49694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B5FC7-116B-4269-911D-01EBDDA0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BD900-C50D-45E2-912D-63A317F9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6FD98-6C08-4DA0-900E-FDB16BD7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可信度控制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A519B-3029-4082-A864-67AA6E5B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模型指标不仅要高，更要可解释、可信赖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67A18-10CD-4F24-A2CC-36DB9402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我们关注 AUC 达标，也排查高指标背后的类别不平衡与潜在泄漏问题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1202F2-2324-460C-8F86-9BF0A093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14905-CD14-44C5-9674-DBC5E217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D01C0-94A7-4ABF-A2F0-D638FB7A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CB51B-A665-410D-A676-F7474E98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18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85E915-3364-423A-A896-F24F8FE3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33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4F1BC-FBD0-4918-A240-A453256F7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风险模型 AUC 超过 0.92，满足赛题要求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6149B-EF30-47A0-AAE1-ED10ECCF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90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3CFF2-AC72-4BC0-980F-D5360841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242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四级模型更接近真实预测任务，六级模型同时说明样本不平衡背景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5B8E3-B725-4918-AF75-74B50597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8B930F-8A51-4792-823C-9A343A00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多分类任务优先展示 Macro F1 与 Accuracy，而不是生硬强调 AUC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D637BB-D296-4320-B35E-E7369E77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E8B845-D6D6-498A-AA48-FD741A65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健康、学习投入、综合发展等模型都做了可信度口径修正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2161D-92F6-406F-A810-CE082B42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1608D-7A10-4A5B-9C6B-EB03425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958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系统展示结果时同步补充解释与限制说明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CE45-27F0-4F0C-9760-0540FA72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47950"/>
            <a:ext cx="44958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49849E-C397-45DA-B23D-F4742E2C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33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223A"/>
                </a:solidFill>
              </a:defRPr>
            </a:pPr>
            <a:r>
              <a:rPr sz="1500" b="1">
                <a:solidFill>
                  <a:srgbClr val="0E223A"/>
                </a:solidFill>
              </a:rPr>
              <a:t>可信度控制策略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122736-9913-47D5-97E4-220AA2D0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19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6B3F62-D78C-4D0C-A78B-B956ACF1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528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不夸大单一指标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E8FFFD-FF12-4D0C-B1DD-FFF61D09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00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9A131F-5883-4DC2-9F8E-717D623E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338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区分二分类与多分类口径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7DAA57-CEB9-4900-8B9A-490EA69D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81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6EB8B6-D7F7-46C5-809B-222719F6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148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说明样本不平衡背景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E925B-0134-48DD-B93A-F4185CC7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62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40ED0D-BDAC-4C3C-8334-CE426386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958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排查特征泄漏风险</a:t>
            </a:r>
          </a:p>
        </p:txBody>
      </p:sp>
    </p:spTree>
    <p:extLst>
      <p:ext uri="{BB962C8B-B14F-4D97-AF65-F5344CB8AC3E}">
        <p14:creationId xmlns:p14="http://schemas.microsoft.com/office/powerpoint/2010/main" val="35657644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9E000-C7FD-4368-97D0-2D450C8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52527-6568-45FD-979C-43D0C814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9A1B8-59CD-495C-AF24-873EE4C3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51A6A-1F84-412B-BDC0-25C34D00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F5D8F-109D-4548-A939-3453CC0B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33F47-EB9C-482A-97F2-C03260ED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BE385-D51D-4120-BA18-5A248F1B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交付形态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B9777-3ADF-46F2-B429-41441499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项目已经具备完整的竞赛交付与演示基础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3E12C-E2A6-4D7E-9109-280BD54F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从源码、模型、文档到 PPT、视频脚本和移动端安装包，形成完整材料体系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DCE94-2D60-4543-80C5-BD532DD6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49E5B-4A48-400D-A232-02EF3FAD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3DFF0-4359-4F62-9B03-358BA3BC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298FC-7E27-44AD-B513-93426263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19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C7568-B980-4734-A769-2E1F8F53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BDB57-DFE6-481D-ABE4-D79F8C8D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B7452-A24B-49EF-813D-DFDBA806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9C057A-50D3-4D6B-B5C5-3F1F2439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85263-BF9E-4C29-AF47-AA328B6E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源码与模型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D7FAD-025F-4469-889B-F54B65F2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包含前后端代码、数据库、模型文件和图表资源。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32E44E-96E0-4985-8EFB-F2159AF3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AA34C5-5AC8-465B-9050-555B27E0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5745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A945BC-EDF0-4915-81F4-795FFFDC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27A9E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54D80-A9BB-4AF0-8E46-283F5BD8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80987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14300A-A44C-4B7F-A8F2-36A863D0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文档与部署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BF52E-2B3D-44D7-9B60-C69B3D3F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0040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提供部署说明、接口契约、环境步骤与 Demo 说明。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5EE70-63E7-4431-BBFE-1F7D82AA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1F2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EAAC8-2FF1-4C16-BB66-AF390DC9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ECA189-E4F8-4ECA-9C08-D359E725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D69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A340AE-4AD0-4466-93D9-3B8E7C4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437683-8D6F-4331-9CF5-77834C53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PPT 与视频脚本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B19839-A2F9-408F-8947-6258E3BA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便于快速录制演示视频和准备答辩。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D31E0C-F501-4F21-8811-D4077758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CFBF3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9E6326-4708-4235-B498-AF245ABC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38600"/>
            <a:ext cx="495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E21256-E577-4296-B694-50A2DB61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481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CA56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2C46C4-131B-440F-ABA7-09706EFB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91025"/>
            <a:ext cx="266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15A353-5E1C-4BFA-B3F3-DC50FA38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053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223A"/>
                </a:solidFill>
              </a:defRPr>
            </a:pPr>
            <a:r>
              <a:rPr sz="1575" b="1">
                <a:solidFill>
                  <a:srgbClr val="0E223A"/>
                </a:solidFill>
              </a:rPr>
              <a:t>移动端安装包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F18658-7FFD-4C70-9E5E-9C97765A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81550"/>
            <a:ext cx="4362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支持安卓真机安装与基座调试。</a:t>
            </a:r>
          </a:p>
        </p:txBody>
      </p:sp>
    </p:spTree>
    <p:extLst>
      <p:ext uri="{BB962C8B-B14F-4D97-AF65-F5344CB8AC3E}">
        <p14:creationId xmlns:p14="http://schemas.microsoft.com/office/powerpoint/2010/main" val="2397703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EEF5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099A3-CFF6-4B4E-8D97-EF8473DC4F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F6DE4-F692-4654-B279-69631B3A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04900"/>
          </a:xfrm>
          <a:prstGeom xmlns:a="http://schemas.openxmlformats.org/drawingml/2006/main" prst="rect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CC956-49CC-4A38-B65F-49122515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-304800"/>
            <a:ext cx="2381250" cy="238125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05B6E-4D28-4E46-B251-CD1CFDF9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"/>
            <a:ext cx="1143000" cy="1143000"/>
          </a:xfrm>
          <a:prstGeom xmlns:a="http://schemas.openxmlformats.org/drawingml/2006/main" prst="ellipse">
            <a:avLst/>
          </a:prstGeom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52AC5-0295-4088-B844-435A002A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ECF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B4CF81-A4A2-4ED2-9A4E-BA9AF721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114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7E8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30750-1A54-4B7C-91A6-A13C6B28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532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65F5"/>
                </a:solidFill>
              </a:defRPr>
            </a:pPr>
            <a:r>
              <a:rPr sz="1275" b="1">
                <a:solidFill>
                  <a:srgbClr val="2165F5"/>
                </a:solidFill>
              </a:rPr>
              <a:t>知行雷达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6A1E1-A7A1-43D1-93A7-0003C08F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28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7B91"/>
                </a:solidFill>
              </a:defRPr>
            </a:pPr>
            <a:r>
              <a:rPr sz="1275" b="1">
                <a:solidFill>
                  <a:srgbClr val="657B91"/>
                </a:solidFill>
              </a:rPr>
              <a:t>总结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7B003-5E38-49C5-AE76-2CFA80C2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9540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223A"/>
                </a:solidFill>
              </a:defRPr>
            </a:pPr>
            <a:r>
              <a:rPr sz="2250" b="1">
                <a:solidFill>
                  <a:srgbClr val="0E223A"/>
                </a:solidFill>
              </a:rPr>
              <a:t>知行雷达：让学生成长状态看得见、讲得清、可行动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18D25-2FF9-4E73-B721-3C3CAF64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B91"/>
                </a:solidFill>
              </a:defRPr>
            </a:pPr>
            <a:r>
              <a:rPr sz="1200" b="0">
                <a:solidFill>
                  <a:srgbClr val="657B91"/>
                </a:solidFill>
              </a:rPr>
              <a:t>项目完成了从多源数据、画像分析、风险预警到多端服务与智能交互的完整闭环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D6DED-8704-4B9F-BE8C-44E2DA5A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23900"/>
            <a:ext cx="16002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D8E8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7B8EE-4470-4145-9F86-255048C8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38200"/>
            <a:ext cx="1371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3B74"/>
                </a:solidFill>
              </a:defRPr>
            </a:pPr>
            <a:r>
              <a:rPr sz="1050" b="1">
                <a:solidFill>
                  <a:srgbClr val="123B74"/>
                </a:solidFill>
              </a:rPr>
              <a:t>学生成长分析平台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B94FC-D417-4554-B8E5-5A5CEB94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2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0AAFF9-6FFD-4F6B-8D08-6FD104FF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57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57B91"/>
                </a:solidFill>
              </a:defRPr>
            </a:pPr>
            <a:r>
              <a:rPr sz="900" b="0">
                <a:solidFill>
                  <a:srgbClr val="657B91"/>
                </a:solidFill>
              </a:rPr>
              <a:t>20 / 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17371-10B3-4F33-8EA8-5F050BB5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104394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B3B8E-E14D-4FC9-95B8-6DB66B04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65F5"/>
                </a:solidFill>
              </a:defRPr>
            </a:pPr>
            <a:r>
              <a:rPr sz="1500" b="1">
                <a:solidFill>
                  <a:srgbClr val="2165F5"/>
                </a:solidFill>
              </a:rPr>
              <a:t>项目亮点回顾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950CE-2C6F-4066-999A-F4F1B962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14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2A811-3979-4819-A4EC-FBAD6CD8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480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多源数据融合 + 学生个体画像 + 群体画像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4813D7-E58E-48E7-9272-2FCF7586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C1F75-89A0-436F-B842-F102E0D9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风险预警 + 多任务成长预测 + 可解释结果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97FB1-5F6A-4C2F-9D6A-367FD9DF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BA367E-ED1F-426F-A5D5-C07CD774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624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管理端、学生端、安卓端、智能助手四位一体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775145-CEB7-4CCA-A9E3-77D4E2C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86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5F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5BA7F-4BA5-4F97-B0CE-8150AE1F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96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3384D"/>
                </a:solidFill>
              </a:defRPr>
            </a:pPr>
            <a:r>
              <a:rPr sz="1425" b="0">
                <a:solidFill>
                  <a:srgbClr val="23384D"/>
                </a:solidFill>
              </a:rPr>
              <a:t>具备完整竞赛交付形态与后续扩展能力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5B06AA-E901-4E95-96E4-D6567624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62300"/>
            <a:ext cx="16002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BF9FF"/>
          </a:solidFill>
          <a:ln xmlns:a="http://schemas.openxmlformats.org/drawingml/2006/main" w="11430">
            <a:solidFill>
              <a:srgbClr val="DDE8F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15419-5786-48D0-BD72-7F12961B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24250"/>
            <a:ext cx="990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223A"/>
                </a:solidFill>
              </a:defRPr>
            </a:pPr>
            <a:r>
              <a:rPr sz="2100" b="1">
                <a:solidFill>
                  <a:srgbClr val="0E223A"/>
                </a:solidFill>
              </a:rPr>
              <a:t>知行</a:t>
            </a:r>
          </a:p>
          <a:p xmlns:a="http://schemas.openxmlformats.org/drawingml/2006/main">
            <a:pPr algn="ctr">
              <a:defRPr sz="2100" b="1">
                <a:solidFill>
                  <a:srgbClr val="0E223A"/>
                </a:solidFill>
              </a:defRPr>
            </a:pPr>
            <a:r>
              <a:rPr sz="2100" b="1">
                <a:solidFill>
                  <a:srgbClr val="0E223A"/>
                </a:solidFill>
              </a:rPr>
              <a:t>雷达</a:t>
            </a:r>
          </a:p>
        </p:txBody>
      </p:sp>
    </p:spTree>
    <p:extLst>
      <p:ext uri="{BB962C8B-B14F-4D97-AF65-F5344CB8AC3E}">
        <p14:creationId xmlns:p14="http://schemas.microsoft.com/office/powerpoint/2010/main" val="1867947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2026-04-21T18:29:05.7750000Z</dcterms:created>
  <dcterms:modified xsi:type="dcterms:W3CDTF">2026-04-21T18:29:05.7750000Z</dcterms:modified>
</coreProperties>
</file>