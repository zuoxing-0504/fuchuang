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656dc26c094ff0" /><Relationship Type="http://schemas.openxmlformats.org/officeDocument/2006/relationships/extended-properties" Target="/docProps/app.xml" Id="R6b75547c60b64048" /><Relationship Type="http://schemas.openxmlformats.org/officeDocument/2006/relationships/officeDocument" Target="/ppt/presentation.xml" Id="R1d297840510c47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fd0d5f0885484f"/>
  </p:sldMasterIdLst>
  <p:notesMasterIdLst>
    <p:notesMasterId xmlns:r="http://schemas.openxmlformats.org/officeDocument/2006/relationships" r:id="R605d357a0be64c8c"/>
  </p:notesMasterIdLst>
  <p:sldIdLst>
    <p:sldId xmlns:r="http://schemas.openxmlformats.org/officeDocument/2006/relationships" id="256" r:id="Rada6aca4e1f6465e"/>
    <p:sldId xmlns:r="http://schemas.openxmlformats.org/officeDocument/2006/relationships" id="257" r:id="Rcb694a2609294605"/>
    <p:sldId xmlns:r="http://schemas.openxmlformats.org/officeDocument/2006/relationships" id="258" r:id="R9955d944a69648c2"/>
    <p:sldId xmlns:r="http://schemas.openxmlformats.org/officeDocument/2006/relationships" id="259" r:id="R6f9ea4c919094275"/>
    <p:sldId xmlns:r="http://schemas.openxmlformats.org/officeDocument/2006/relationships" id="260" r:id="R34c5825b5342495c"/>
    <p:sldId xmlns:r="http://schemas.openxmlformats.org/officeDocument/2006/relationships" id="261" r:id="Rec9537662815445b"/>
    <p:sldId xmlns:r="http://schemas.openxmlformats.org/officeDocument/2006/relationships" id="262" r:id="R39817d63ea2d456b"/>
    <p:sldId xmlns:r="http://schemas.openxmlformats.org/officeDocument/2006/relationships" id="263" r:id="Rbb4c839df7a349b4"/>
    <p:sldId xmlns:r="http://schemas.openxmlformats.org/officeDocument/2006/relationships" id="264" r:id="R3baf7b1e321e4a65"/>
    <p:sldId xmlns:r="http://schemas.openxmlformats.org/officeDocument/2006/relationships" id="265" r:id="R15183c36e2494566"/>
    <p:sldId xmlns:r="http://schemas.openxmlformats.org/officeDocument/2006/relationships" id="266" r:id="R21b9165bd5ac4257"/>
    <p:sldId xmlns:r="http://schemas.openxmlformats.org/officeDocument/2006/relationships" id="267" r:id="R15f81ecb11ee4e48"/>
    <p:sldId xmlns:r="http://schemas.openxmlformats.org/officeDocument/2006/relationships" id="268" r:id="Ra9fd403a571b4a83"/>
    <p:sldId xmlns:r="http://schemas.openxmlformats.org/officeDocument/2006/relationships" id="269" r:id="Rcf1e599d05254937"/>
    <p:sldId xmlns:r="http://schemas.openxmlformats.org/officeDocument/2006/relationships" id="270" r:id="R3effac3d4b5b40b5"/>
    <p:sldId xmlns:r="http://schemas.openxmlformats.org/officeDocument/2006/relationships" id="271" r:id="R47866789e9714ae5"/>
    <p:sldId xmlns:r="http://schemas.openxmlformats.org/officeDocument/2006/relationships" id="272" r:id="Refc738b93e044215"/>
    <p:sldId xmlns:r="http://schemas.openxmlformats.org/officeDocument/2006/relationships" id="273" r:id="Rea4adbe596834209"/>
    <p:sldId xmlns:r="http://schemas.openxmlformats.org/officeDocument/2006/relationships" id="274" r:id="Ref6914fee0ac41fc"/>
    <p:sldId xmlns:r="http://schemas.openxmlformats.org/officeDocument/2006/relationships" id="275" r:id="R204832216eb24a0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fd0d5f0885484f" /><Relationship Type="http://schemas.openxmlformats.org/officeDocument/2006/relationships/theme" Target="/ppt/theme/theme1.xml" Id="Re517dbe9b09f42d7" /><Relationship Type="http://schemas.openxmlformats.org/officeDocument/2006/relationships/notesMaster" Target="/ppt/notesMasters/notesMaster1.xml" Id="R605d357a0be64c8c" /><Relationship Type="http://schemas.openxmlformats.org/officeDocument/2006/relationships/presProps" Target="/ppt/presProps.xml" Id="R3e55149fd72747e4" /><Relationship Type="http://schemas.openxmlformats.org/officeDocument/2006/relationships/viewProps" Target="/ppt/viewProps.xml" Id="Re7f61d034f094300" /><Relationship Type="http://schemas.openxmlformats.org/officeDocument/2006/relationships/tableStyles" Target="/ppt/tableStyles.xml" Id="R970c60020e2f4e71" /><Relationship Type="http://schemas.openxmlformats.org/officeDocument/2006/relationships/slide" Target="/ppt/slides/slide1.xml" Id="Rada6aca4e1f6465e" /><Relationship Type="http://schemas.openxmlformats.org/officeDocument/2006/relationships/slide" Target="/ppt/slides/slide2.xml" Id="Rcb694a2609294605" /><Relationship Type="http://schemas.openxmlformats.org/officeDocument/2006/relationships/slide" Target="/ppt/slides/slide3.xml" Id="R9955d944a69648c2" /><Relationship Type="http://schemas.openxmlformats.org/officeDocument/2006/relationships/slide" Target="/ppt/slides/slide4.xml" Id="R6f9ea4c919094275" /><Relationship Type="http://schemas.openxmlformats.org/officeDocument/2006/relationships/slide" Target="/ppt/slides/slide5.xml" Id="R34c5825b5342495c" /><Relationship Type="http://schemas.openxmlformats.org/officeDocument/2006/relationships/slide" Target="/ppt/slides/slide6.xml" Id="Rec9537662815445b" /><Relationship Type="http://schemas.openxmlformats.org/officeDocument/2006/relationships/slide" Target="/ppt/slides/slide7.xml" Id="R39817d63ea2d456b" /><Relationship Type="http://schemas.openxmlformats.org/officeDocument/2006/relationships/slide" Target="/ppt/slides/slide8.xml" Id="Rbb4c839df7a349b4" /><Relationship Type="http://schemas.openxmlformats.org/officeDocument/2006/relationships/slide" Target="/ppt/slides/slide9.xml" Id="R3baf7b1e321e4a65" /><Relationship Type="http://schemas.openxmlformats.org/officeDocument/2006/relationships/slide" Target="/ppt/slides/slide10.xml" Id="R15183c36e2494566" /><Relationship Type="http://schemas.openxmlformats.org/officeDocument/2006/relationships/slide" Target="/ppt/slides/slide11.xml" Id="R21b9165bd5ac4257" /><Relationship Type="http://schemas.openxmlformats.org/officeDocument/2006/relationships/slide" Target="/ppt/slides/slide12.xml" Id="R15f81ecb11ee4e48" /><Relationship Type="http://schemas.openxmlformats.org/officeDocument/2006/relationships/slide" Target="/ppt/slides/slide13.xml" Id="Ra9fd403a571b4a83" /><Relationship Type="http://schemas.openxmlformats.org/officeDocument/2006/relationships/slide" Target="/ppt/slides/slide14.xml" Id="Rcf1e599d05254937" /><Relationship Type="http://schemas.openxmlformats.org/officeDocument/2006/relationships/slide" Target="/ppt/slides/slide15.xml" Id="R3effac3d4b5b40b5" /><Relationship Type="http://schemas.openxmlformats.org/officeDocument/2006/relationships/slide" Target="/ppt/slides/slide16.xml" Id="R47866789e9714ae5" /><Relationship Type="http://schemas.openxmlformats.org/officeDocument/2006/relationships/slide" Target="/ppt/slides/slide17.xml" Id="Refc738b93e044215" /><Relationship Type="http://schemas.openxmlformats.org/officeDocument/2006/relationships/slide" Target="/ppt/slides/slide18.xml" Id="Rea4adbe596834209" /><Relationship Type="http://schemas.openxmlformats.org/officeDocument/2006/relationships/slide" Target="/ppt/slides/slide19.xml" Id="Ref6914fee0ac41fc" /><Relationship Type="http://schemas.openxmlformats.org/officeDocument/2006/relationships/slide" Target="/ppt/slides/slide20.xml" Id="R204832216eb24a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19f688dfd6841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56926c3b0d4c9e" /><Relationship Type="http://schemas.openxmlformats.org/officeDocument/2006/relationships/notesMaster" Target="/ppt/notesMasters/notesMaster1.xml" Id="Ra068c51d2c5a42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6fec1c7537401e" /><Relationship Type="http://schemas.openxmlformats.org/officeDocument/2006/relationships/notesMaster" Target="/ppt/notesMasters/notesMaster1.xml" Id="R24eca89937dd4d8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6e880cfe5744de" /><Relationship Type="http://schemas.openxmlformats.org/officeDocument/2006/relationships/notesMaster" Target="/ppt/notesMasters/notesMaster1.xml" Id="R9427caf2347643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8302c0c9c6429f" /><Relationship Type="http://schemas.openxmlformats.org/officeDocument/2006/relationships/notesMaster" Target="/ppt/notesMasters/notesMaster1.xml" Id="R761e1e9e35a44e1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8a62038fd348e5" /><Relationship Type="http://schemas.openxmlformats.org/officeDocument/2006/relationships/notesMaster" Target="/ppt/notesMasters/notesMaster1.xml" Id="Rb9a7f46e475f49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6fff0d01a4a41aa" /><Relationship Type="http://schemas.openxmlformats.org/officeDocument/2006/relationships/notesMaster" Target="/ppt/notesMasters/notesMaster1.xml" Id="R3731eb80dd9b477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5d2b7ac9ca547e7" /><Relationship Type="http://schemas.openxmlformats.org/officeDocument/2006/relationships/notesMaster" Target="/ppt/notesMasters/notesMaster1.xml" Id="R0bd705408cc34f1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e897b65770e440c" /><Relationship Type="http://schemas.openxmlformats.org/officeDocument/2006/relationships/notesMaster" Target="/ppt/notesMasters/notesMaster1.xml" Id="R25c57b3a62c245a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82c6e4fe4f34726" /><Relationship Type="http://schemas.openxmlformats.org/officeDocument/2006/relationships/notesMaster" Target="/ppt/notesMasters/notesMaster1.xml" Id="R48902d4a7c4140d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da7004a7923412e" /><Relationship Type="http://schemas.openxmlformats.org/officeDocument/2006/relationships/notesMaster" Target="/ppt/notesMasters/notesMaster1.xml" Id="R60f8b6eed0094f2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8d98d6df9784836" /><Relationship Type="http://schemas.openxmlformats.org/officeDocument/2006/relationships/notesMaster" Target="/ppt/notesMasters/notesMaster1.xml" Id="Rb84946a8f89c493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823501a0ee1497e" /><Relationship Type="http://schemas.openxmlformats.org/officeDocument/2006/relationships/notesMaster" Target="/ppt/notesMasters/notesMaster1.xml" Id="R798d79b24dec4bc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4a34fc87aa241ec" /><Relationship Type="http://schemas.openxmlformats.org/officeDocument/2006/relationships/notesMaster" Target="/ppt/notesMasters/notesMaster1.xml" Id="Rcbc5d883c691416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a2f6aff12b4476d" /><Relationship Type="http://schemas.openxmlformats.org/officeDocument/2006/relationships/notesMaster" Target="/ppt/notesMasters/notesMaster1.xml" Id="R4169fa49deb2492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485aaafc5094db2" /><Relationship Type="http://schemas.openxmlformats.org/officeDocument/2006/relationships/notesMaster" Target="/ppt/notesMasters/notesMaster1.xml" Id="R8e8a2af9b28c490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4ffdbb930874afd" /><Relationship Type="http://schemas.openxmlformats.org/officeDocument/2006/relationships/notesMaster" Target="/ppt/notesMasters/notesMaster1.xml" Id="R9fc4208feddf4c7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5ea8e66794141bf" /><Relationship Type="http://schemas.openxmlformats.org/officeDocument/2006/relationships/notesMaster" Target="/ppt/notesMasters/notesMaster1.xml" Id="Rba0ba74f8e3a465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d9ca3e8d6e94c80" /><Relationship Type="http://schemas.openxmlformats.org/officeDocument/2006/relationships/notesMaster" Target="/ppt/notesMasters/notesMaster1.xml" Id="Re4c1b98501f840a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c9e64b2383343de" /><Relationship Type="http://schemas.openxmlformats.org/officeDocument/2006/relationships/notesMaster" Target="/ppt/notesMasters/notesMaster1.xml" Id="R2758124d51d545c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eeea5135d124ade" /><Relationship Type="http://schemas.openxmlformats.org/officeDocument/2006/relationships/notesMaster" Target="/ppt/notesMasters/notesMaster1.xml" Id="Rb81cadea69e84c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fc6b46fc8747f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38D5C59B-D762-4453-B3D9-E449F6DB1A9C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17F7244A-F27C-4A5B-B009-A5F7A6E66B87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3828E8C-5A85-414F-A320-ABFB107FC45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4EC71E-D414-413B-8AD0-AA9D4AAE6B8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F170C6A-CA8C-48A1-A05A-0C25F58A2B79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2c28a75183a4f9c" /><Relationship Type="http://schemas.openxmlformats.org/officeDocument/2006/relationships/slideLayout" Target="/ppt/slideLayouts/slideLayout2.xml" Id="Rdaf698027f0148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2ED1165-E52C-44D0-A21C-386245BA0744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f698027f0148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295d9383854a18" /><Relationship Type="http://schemas.openxmlformats.org/officeDocument/2006/relationships/notesSlide" Target="/ppt/notesSlides/notesSlide1.xml" Id="Rc72e4ff028d147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96afa1052f4d0f" /><Relationship Type="http://schemas.openxmlformats.org/officeDocument/2006/relationships/notesSlide" Target="/ppt/notesSlides/notesSlide2.xml" Id="R483f088017fe4f1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4b9874a37a474e" /><Relationship Type="http://schemas.openxmlformats.org/officeDocument/2006/relationships/notesSlide" Target="/ppt/notesSlides/notesSlide3.xml" Id="Rb240da53e8d444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51b591413345cc" /><Relationship Type="http://schemas.openxmlformats.org/officeDocument/2006/relationships/notesSlide" Target="/ppt/notesSlides/notesSlide4.xml" Id="Reddb6f9cb72a41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0fbb8eab2e4d57" /><Relationship Type="http://schemas.openxmlformats.org/officeDocument/2006/relationships/notesSlide" Target="/ppt/notesSlides/notesSlide5.xml" Id="R783a2510993b464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36cef6a20e4c96" /><Relationship Type="http://schemas.openxmlformats.org/officeDocument/2006/relationships/notesSlide" Target="/ppt/notesSlides/notesSlide6.xml" Id="Rc5af04c540c64bd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ae1540955b4cc2" /><Relationship Type="http://schemas.openxmlformats.org/officeDocument/2006/relationships/notesSlide" Target="/ppt/notesSlides/notesSlide7.xml" Id="R4d521ca5079545d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f5f62d734d418e" /><Relationship Type="http://schemas.openxmlformats.org/officeDocument/2006/relationships/notesSlide" Target="/ppt/notesSlides/notesSlide8.xml" Id="R58dafb00d08f4db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392b47095046cf" /><Relationship Type="http://schemas.openxmlformats.org/officeDocument/2006/relationships/notesSlide" Target="/ppt/notesSlides/notesSlide9.xml" Id="R5326a6333bb2484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aa72d67dca424d" /><Relationship Type="http://schemas.openxmlformats.org/officeDocument/2006/relationships/notesSlide" Target="/ppt/notesSlides/notesSlide10.xml" Id="R58ca6a5569d3472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dbc1c9162f4a29" /><Relationship Type="http://schemas.openxmlformats.org/officeDocument/2006/relationships/notesSlide" Target="/ppt/notesSlides/notesSlide11.xml" Id="Rf83fadca695d489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6996ef92c04273" /><Relationship Type="http://schemas.openxmlformats.org/officeDocument/2006/relationships/notesSlide" Target="/ppt/notesSlides/notesSlide12.xml" Id="Rec3c32d4b72a44f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df3c93447541b4" /><Relationship Type="http://schemas.openxmlformats.org/officeDocument/2006/relationships/notesSlide" Target="/ppt/notesSlides/notesSlide13.xml" Id="Rad42bef15fe9404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d7bc2ef7094430" /><Relationship Type="http://schemas.openxmlformats.org/officeDocument/2006/relationships/notesSlide" Target="/ppt/notesSlides/notesSlide14.xml" Id="R0f8bd4aaeba04d8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4cb2e45a9b41bf" /><Relationship Type="http://schemas.openxmlformats.org/officeDocument/2006/relationships/notesSlide" Target="/ppt/notesSlides/notesSlide15.xml" Id="Rd34ac8fded784dd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41088970dd4c7c" /><Relationship Type="http://schemas.openxmlformats.org/officeDocument/2006/relationships/notesSlide" Target="/ppt/notesSlides/notesSlide16.xml" Id="Rd82fa4313ed64f5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55d46581184a7b" /><Relationship Type="http://schemas.openxmlformats.org/officeDocument/2006/relationships/notesSlide" Target="/ppt/notesSlides/notesSlide17.xml" Id="R7c9ec1876dc54ad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38be2d05b347ef" /><Relationship Type="http://schemas.openxmlformats.org/officeDocument/2006/relationships/notesSlide" Target="/ppt/notesSlides/notesSlide18.xml" Id="Rfa8e1abac73b4c7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c022d3369f4e01" /><Relationship Type="http://schemas.openxmlformats.org/officeDocument/2006/relationships/notesSlide" Target="/ppt/notesSlides/notesSlide19.xml" Id="R18489617f845491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467ecf75d549e4" /><Relationship Type="http://schemas.openxmlformats.org/officeDocument/2006/relationships/notesSlide" Target="/ppt/notesSlides/notesSlide20.xml" Id="R6b61b4f8da5f47a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F170C6A-CA8C-48A1-A05A-0C25F58A2B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D6885E-0C2A-4A85-A7C4-705ED2F0F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381000"/>
            <a:ext cx="2667000" cy="266700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96D3CA-C009-41F5-B268-FB297321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"/>
            <a:ext cx="1524000" cy="152400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53930A-4DDC-44D0-A2F5-592F62AA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F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FD1994-1DE7-44BE-A025-A5B047BB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FF"/>
                </a:solidFill>
              </a:defRPr>
            </a:pPr>
            <a:r>
              <a:rPr sz="1350" b="1">
                <a:solidFill>
                  <a:srgbClr val="1677FF"/>
                </a:solidFill>
              </a:rPr>
              <a:t>知行雷达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D8421E-CD73-493B-9AA8-B0517135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144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738C"/>
                </a:solidFill>
              </a:defRPr>
            </a:pPr>
            <a:r>
              <a:rPr sz="1350" b="1">
                <a:solidFill>
                  <a:srgbClr val="5F738C"/>
                </a:solidFill>
              </a:rPr>
              <a:t>第十七届中国大学生服务外包创新创业大赛 A14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20EF64-DED5-4FDF-8F06-A83D697D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33D"/>
                </a:solidFill>
              </a:defRPr>
            </a:pPr>
            <a:r>
              <a:rPr sz="2325" b="1">
                <a:solidFill>
                  <a:srgbClr val="10233D"/>
                </a:solidFill>
              </a:rPr>
              <a:t>知行雷达：高校学生行为分析与成长支持平台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45B1F6-BD62-4CD0-8ED8-9D98ED72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C"/>
                </a:solidFill>
              </a:defRPr>
            </a:pPr>
            <a:r>
              <a:rPr sz="1200" b="0">
                <a:solidFill>
                  <a:srgbClr val="5F738C"/>
                </a:solidFill>
              </a:rPr>
              <a:t>多源数据融合 · 学生画像 · 风险预警 · 个性化报告 · Web/安卓一体化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286127-84E9-47A5-A955-564294EB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742950"/>
            <a:ext cx="1428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E1EE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AB23AA-1227-4264-8011-EE142B5F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191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学生成长分析平台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DF0AB9-8050-4175-BF0B-98E8722F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08204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F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056AF2-3030-486B-BEB5-144DB3EA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FF"/>
                </a:solidFill>
              </a:defRPr>
            </a:pPr>
            <a:r>
              <a:rPr sz="1350" b="1">
                <a:solidFill>
                  <a:srgbClr val="1677FF"/>
                </a:solidFill>
              </a:rPr>
              <a:t>项目关键词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EFD001-8748-4725-80B3-540659094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428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E0ECF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939F35-FCBD-43C7-A6DD-A5E0879A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77FF"/>
                </a:solidFill>
              </a:defRPr>
            </a:pPr>
            <a:r>
              <a:rPr sz="1125" b="1">
                <a:solidFill>
                  <a:srgbClr val="1677FF"/>
                </a:solidFill>
              </a:rPr>
              <a:t>个体画像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6BAF56-9285-4B28-899F-E5C2CEA0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33750"/>
            <a:ext cx="1428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E0ECF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E0BC63-8C2F-4EAC-A911-357FC2F7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290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77FF"/>
                </a:solidFill>
              </a:defRPr>
            </a:pPr>
            <a:r>
              <a:rPr sz="1125" b="1">
                <a:solidFill>
                  <a:srgbClr val="1677FF"/>
                </a:solidFill>
              </a:rPr>
              <a:t>群体画像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A0C928-BC0C-45E3-89ED-739F2D06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33750"/>
            <a:ext cx="1428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E0ECF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7F3BD6-BE98-4513-A676-56EDA487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290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77FF"/>
                </a:solidFill>
              </a:defRPr>
            </a:pPr>
            <a:r>
              <a:rPr sz="1125" b="1">
                <a:solidFill>
                  <a:srgbClr val="1677FF"/>
                </a:solidFill>
              </a:rPr>
              <a:t>风险预测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EE23F7-5638-4581-93CF-33D8123A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86200"/>
            <a:ext cx="1428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E0ECF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405B4E-829D-4757-8D74-125B67E5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814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77FF"/>
                </a:solidFill>
              </a:defRPr>
            </a:pPr>
            <a:r>
              <a:rPr sz="1125" b="1">
                <a:solidFill>
                  <a:srgbClr val="1677FF"/>
                </a:solidFill>
              </a:rPr>
              <a:t>多任务模型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2B39A0-CAC7-46D4-82A0-EFDC48B51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886200"/>
            <a:ext cx="1428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E0ECF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0A720C-4289-4836-8F77-4650F464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814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77FF"/>
                </a:solidFill>
              </a:defRPr>
            </a:pPr>
            <a:r>
              <a:rPr sz="1125" b="1">
                <a:solidFill>
                  <a:srgbClr val="1677FF"/>
                </a:solidFill>
              </a:rPr>
              <a:t>智能助手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1D6FDF-39E0-41DC-8D5C-13175C23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86200"/>
            <a:ext cx="1428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E0ECF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64B437-AEA0-4457-B729-C17E77DF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814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77FF"/>
                </a:solidFill>
              </a:defRPr>
            </a:pPr>
            <a:r>
              <a:rPr sz="1125" b="1">
                <a:solidFill>
                  <a:srgbClr val="1677FF"/>
                </a:solidFill>
              </a:rPr>
              <a:t>移动端同步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C2C656-8A5E-45D7-A2E7-C9368466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00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344D"/>
                </a:solidFill>
              </a:defRPr>
            </a:pPr>
            <a:r>
              <a:rPr sz="1500" b="0">
                <a:solidFill>
                  <a:srgbClr val="21344D"/>
                </a:solidFill>
              </a:rPr>
              <a:t>面向高校学生管理、辅导员支持与学生自助成长场景，构建一套可运行、可展示、可扩展的行为分析系统。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DC6642-2C95-4A7E-858F-8256BBF9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86250"/>
            <a:ext cx="304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33D"/>
                </a:solidFill>
              </a:defRPr>
            </a:pPr>
            <a:r>
              <a:rPr sz="2550" b="1">
                <a:solidFill>
                  <a:srgbClr val="10233D"/>
                </a:solidFill>
              </a:rPr>
              <a:t>知行雷达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D15C57-BD02-4E28-9FEC-723628B6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625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738C"/>
                </a:solidFill>
              </a:defRPr>
            </a:pPr>
            <a:r>
              <a:rPr sz="1350" b="0">
                <a:solidFill>
                  <a:srgbClr val="5F738C"/>
                </a:solidFill>
              </a:rPr>
              <a:t>让学生成长状态看得见、解释清、可行动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F3E2A2-EE12-4FCB-9E65-DFF68F61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770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738C"/>
                </a:solidFill>
              </a:defRPr>
            </a:pPr>
            <a:r>
              <a:rPr sz="900" b="0">
                <a:solidFill>
                  <a:srgbClr val="5F738C"/>
                </a:solidFill>
              </a:rPr>
              <a:t>1 / 20</a:t>
            </a:r>
          </a:p>
        </p:txBody>
      </p:sp>
    </p:spTree>
    <p:extLst>
      <p:ext uri="{BB962C8B-B14F-4D97-AF65-F5344CB8AC3E}">
        <p14:creationId xmlns:p14="http://schemas.microsoft.com/office/powerpoint/2010/main" val="8824503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F170C6A-CA8C-48A1-A05A-0C25F58A2B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9BDF6C-41C8-4308-B613-B82EDEA1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381000"/>
            <a:ext cx="2667000" cy="266700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A6E972-42F5-4597-A362-41F20E47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"/>
            <a:ext cx="1524000" cy="152400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C2874B-6F0C-4F17-B36F-DAAA17219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F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92AA75-19B1-48CE-B38D-5A33FAD3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FF"/>
                </a:solidFill>
              </a:defRPr>
            </a:pPr>
            <a:r>
              <a:rPr sz="1350" b="1">
                <a:solidFill>
                  <a:srgbClr val="1677FF"/>
                </a:solidFill>
              </a:rPr>
              <a:t>知行雷达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57A458-83EE-43BD-B05B-7125CB8D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144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738C"/>
                </a:solidFill>
              </a:defRPr>
            </a:pPr>
            <a:r>
              <a:rPr sz="1350" b="1">
                <a:solidFill>
                  <a:srgbClr val="5F738C"/>
                </a:solidFill>
              </a:rPr>
              <a:t>项目背景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71C930-2C52-4A3D-B179-C1E4F3CA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33D"/>
                </a:solidFill>
              </a:defRPr>
            </a:pPr>
            <a:r>
              <a:rPr sz="2325" b="1">
                <a:solidFill>
                  <a:srgbClr val="10233D"/>
                </a:solidFill>
              </a:rPr>
              <a:t>高校学生管理的现实痛点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F921CC-F6A6-42C0-B9AC-AC4A21F6E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C"/>
                </a:solidFill>
              </a:defRPr>
            </a:pPr>
            <a:r>
              <a:rPr sz="1200" b="0">
                <a:solidFill>
                  <a:srgbClr val="5F738C"/>
                </a:solidFill>
              </a:rPr>
              <a:t>从“数据分散、识别滞后、干预粗放”切入，构建可解释的成长支持系统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0FEA8A-CDAB-40A0-BFD8-44685216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742950"/>
            <a:ext cx="1428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E1EE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454CD1-E292-409A-9B49-7D977184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191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学生成长分析平台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745BE9-0094-4791-8CB4-7736D545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9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AEB9B4-D87F-4FF1-87B5-1A8D9646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527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344D"/>
                </a:solidFill>
              </a:defRPr>
            </a:pPr>
            <a:r>
              <a:rPr sz="1500" b="0">
                <a:solidFill>
                  <a:srgbClr val="21344D"/>
                </a:solidFill>
              </a:rPr>
              <a:t>学生行为数据来源分散，难以统一分析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4154F4-B859-44F3-A9DE-0281D258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3DD42E-B249-4F49-84A1-C7E66A99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480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344D"/>
                </a:solidFill>
              </a:defRPr>
            </a:pPr>
            <a:r>
              <a:rPr sz="1500" b="0">
                <a:solidFill>
                  <a:srgbClr val="21344D"/>
                </a:solidFill>
              </a:rPr>
              <a:t>传统预警依赖经验，缺少量化依据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B5C297-08CE-407A-B53E-12A99DB2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40CA1-9B43-403F-877F-E76460A3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433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344D"/>
                </a:solidFill>
              </a:defRPr>
            </a:pPr>
            <a:r>
              <a:rPr sz="1500" b="0">
                <a:solidFill>
                  <a:srgbClr val="21344D"/>
                </a:solidFill>
              </a:rPr>
              <a:t>学生个体差异明显，难以因材施策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D3099D-032B-4B59-8F35-E3DC8A510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5E86E8-CDAD-4CA9-8251-B835DB80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386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344D"/>
                </a:solidFill>
              </a:defRPr>
            </a:pPr>
            <a:r>
              <a:rPr sz="1500" b="0">
                <a:solidFill>
                  <a:srgbClr val="21344D"/>
                </a:solidFill>
              </a:rPr>
              <a:t>管理端与学生端缺少统一的数据服务入口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714CCF-81C7-42EA-926D-07AD9F634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91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416E1B-5470-4D54-A4E5-9EF70FA3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339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344D"/>
                </a:solidFill>
              </a:defRPr>
            </a:pPr>
            <a:r>
              <a:rPr sz="1500" b="0">
                <a:solidFill>
                  <a:srgbClr val="21344D"/>
                </a:solidFill>
              </a:rPr>
              <a:t>成果展示不足，难以形成可视化说服力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68CFC3-9804-463D-931A-4D3A41CF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62200"/>
            <a:ext cx="4476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E0ECF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489637-3E20-41F1-82AF-9FA5886C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3365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数据割裂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008A70-7ABA-41FA-B041-9F5523B20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57500"/>
            <a:ext cx="381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C"/>
                </a:solidFill>
              </a:defRPr>
            </a:pPr>
            <a:r>
              <a:rPr sz="1200" b="0">
                <a:solidFill>
                  <a:srgbClr val="5F738C"/>
                </a:solidFill>
              </a:rPr>
              <a:t>门禁、图书馆、学业、体测、英语等信息难统一建模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AB54E5-E6FB-4334-A023-3A26D08B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533650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F02F41-8CAD-44B5-9528-97CC3743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714625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8D66CE-387A-4727-BB10-0A8468E5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19500"/>
            <a:ext cx="4476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DF9FF"/>
          </a:solidFill>
          <a:ln xmlns:a="http://schemas.openxmlformats.org/drawingml/2006/main" w="9525">
            <a:solidFill>
              <a:srgbClr val="E0ECF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9FB54D-5DC4-4108-AC5D-8C56DFD1E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9095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解释不足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3C839A-C253-48AA-83C9-CB70FAC18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14800"/>
            <a:ext cx="381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C"/>
                </a:solidFill>
              </a:defRPr>
            </a:pPr>
            <a:r>
              <a:rPr sz="1200" b="0">
                <a:solidFill>
                  <a:srgbClr val="5F738C"/>
                </a:solidFill>
              </a:rPr>
              <a:t>只有风险分数，没有清晰结论与干预依据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62C4BA-F6B0-4483-99D1-F61DB06F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790950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40BDF7"/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1878BA-19DE-43E8-931D-68F78C0D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971925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解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3A1BAC-DB89-4C5A-A7B7-B0D843EE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76800"/>
            <a:ext cx="4476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3F4FF"/>
          </a:solidFill>
          <a:ln xmlns:a="http://schemas.openxmlformats.org/drawingml/2006/main" w="9525">
            <a:solidFill>
              <a:srgbClr val="E0ECF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DA3648-CB2D-4CB1-94C4-9BF5ECB14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04825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展示薄弱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EB76E4-499C-49F6-9BD1-FD5B7AE5E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372100"/>
            <a:ext cx="381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C"/>
                </a:solidFill>
              </a:defRPr>
            </a:pPr>
            <a:r>
              <a:rPr sz="1200" b="0">
                <a:solidFill>
                  <a:srgbClr val="5F738C"/>
                </a:solidFill>
              </a:rPr>
              <a:t>缺少群体图谱、移动端与可交互的成果呈现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2006F22-ECBD-4D81-B089-7A388C3A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048250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6E7BFF"/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9A059C-8FB7-4484-A404-D0B836D7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229225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展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BE03F8-DBC1-40D1-87F3-26F9B6D0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770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738C"/>
                </a:solidFill>
              </a:defRPr>
            </a:pPr>
            <a:r>
              <a:rPr sz="900" b="0">
                <a:solidFill>
                  <a:srgbClr val="5F738C"/>
                </a:solidFill>
              </a:rPr>
              <a:t>2 / 20</a:t>
            </a:r>
          </a:p>
        </p:txBody>
      </p:sp>
    </p:spTree>
    <p:extLst>
      <p:ext uri="{BB962C8B-B14F-4D97-AF65-F5344CB8AC3E}">
        <p14:creationId xmlns:p14="http://schemas.microsoft.com/office/powerpoint/2010/main" val="12415073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F170C6A-CA8C-48A1-A05A-0C25F58A2B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236D0A-5E42-497C-8518-451B22DF2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381000"/>
            <a:ext cx="2667000" cy="266700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ABA95B-F421-46F4-B07D-061F431A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"/>
            <a:ext cx="1524000" cy="152400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B08F8E-0033-4DD1-8621-3C289FE4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F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3F113C-BD42-443A-8468-E536B569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FF"/>
                </a:solidFill>
              </a:defRPr>
            </a:pPr>
            <a:r>
              <a:rPr sz="1350" b="1">
                <a:solidFill>
                  <a:srgbClr val="1677FF"/>
                </a:solidFill>
              </a:rPr>
              <a:t>知行雷达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C5B9F0-2198-4F81-BCD3-F5253095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144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738C"/>
                </a:solidFill>
              </a:defRPr>
            </a:pPr>
            <a:r>
              <a:rPr sz="1350" b="1">
                <a:solidFill>
                  <a:srgbClr val="5F738C"/>
                </a:solidFill>
              </a:rPr>
              <a:t>赛题对应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A58B6D-A6AC-437A-B127-7DC3D20E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33D"/>
                </a:solidFill>
              </a:defRPr>
            </a:pPr>
            <a:r>
              <a:rPr sz="2325" b="1">
                <a:solidFill>
                  <a:srgbClr val="10233D"/>
                </a:solidFill>
              </a:rPr>
              <a:t>我们如何对齐 A14 赛题要求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1357AA-43A4-428B-A06F-DDAC982E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C"/>
                </a:solidFill>
              </a:defRPr>
            </a:pPr>
            <a:r>
              <a:rPr sz="1200" b="0">
                <a:solidFill>
                  <a:srgbClr val="5F738C"/>
                </a:solidFill>
              </a:rPr>
              <a:t>从功能、模型、画像、成果展示四条线落实评分关注点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9AC073-8A0A-49AE-AF93-88AD9E22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742950"/>
            <a:ext cx="1428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E1EE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57E43F-82EB-41B0-A642-DA318A2B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191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学生成长分析平台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8CC113-88B9-48A2-90C0-1A729E96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4953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E0ECF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BCFA79-F8FA-44D9-9033-DDFEE7B6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051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0A5357-5B58-4723-8CA3-2BC87A00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38450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D52382-061C-4666-8BBD-4279D0D1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432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8~10 个分析成果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1C1BB5-74FF-4E6A-91C1-D27D523D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19450"/>
            <a:ext cx="4343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C"/>
                </a:solidFill>
              </a:defRPr>
            </a:pPr>
            <a:r>
              <a:rPr sz="1200" b="0">
                <a:solidFill>
                  <a:srgbClr val="5F738C"/>
                </a:solidFill>
              </a:rPr>
              <a:t>系统已形成 8 张全样本分析图，并提供图表解释入口。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79B872-991F-45B0-8066-2FD391A0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76500"/>
            <a:ext cx="4953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DF9FF"/>
          </a:solidFill>
          <a:ln xmlns:a="http://schemas.openxmlformats.org/drawingml/2006/main" w="9525">
            <a:solidFill>
              <a:srgbClr val="E0ECF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80B450-081F-491E-AE5A-AA455B1A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051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40BDF7"/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95F9ED-6EC0-4D79-90D1-C8313CD2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38450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个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8D25AE-0A9B-4F8F-9004-5C6EF8CCE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432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学生个体画像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B207F1-60FF-4696-B20C-204076FB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19450"/>
            <a:ext cx="4343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C"/>
                </a:solidFill>
              </a:defRPr>
            </a:pPr>
            <a:r>
              <a:rPr sz="1200" b="0">
                <a:solidFill>
                  <a:srgbClr val="5F738C"/>
                </a:solidFill>
              </a:rPr>
              <a:t>围绕风险、投入、健康、发展形成个体成长画像。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306CA9-64AD-4CC9-AD4D-EFD5D9BE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4953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EFDF6"/>
          </a:solidFill>
          <a:ln xmlns:a="http://schemas.openxmlformats.org/drawingml/2006/main" w="9525">
            <a:solidFill>
              <a:srgbClr val="E0ECF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0D0DCE-4F62-40CF-A7DD-1B7C8BD9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243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2B07D"/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58F170-E4E4-4B28-B471-A84F5C98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57700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33B015-324B-425E-BCCB-235DEB75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624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学生群体画像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D55875-03EC-4D99-9574-F195BCF3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38700"/>
            <a:ext cx="4343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C"/>
                </a:solidFill>
              </a:defRPr>
            </a:pPr>
            <a:r>
              <a:rPr sz="1200" b="0">
                <a:solidFill>
                  <a:srgbClr val="5F738C"/>
                </a:solidFill>
              </a:rPr>
              <a:t>支持院系与专业维度对比，展示主导画像与风险分布。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A53758-DEAA-49C6-A3B2-B5520837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095750"/>
            <a:ext cx="4953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F4FF"/>
          </a:solidFill>
          <a:ln xmlns:a="http://schemas.openxmlformats.org/drawingml/2006/main" w="9525">
            <a:solidFill>
              <a:srgbClr val="E0ECF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C1BB89-0ED1-4915-A05E-31706085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243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6E7BFF"/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CDBBF8-2A25-4075-8361-AD376227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57700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AF64FD-7046-4044-9D8B-18AEF023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624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至少 4 类模式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63314D-A84B-41FA-9FEE-42E691B1E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38700"/>
            <a:ext cx="4343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C"/>
                </a:solidFill>
              </a:defRPr>
            </a:pPr>
            <a:r>
              <a:rPr sz="1200" b="0">
                <a:solidFill>
                  <a:srgbClr val="5F738C"/>
                </a:solidFill>
              </a:rPr>
              <a:t>识别高投入稳健型、低投入风险型、夜间波动型、发展过渡型。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595BF3-AC3F-4B62-84F2-9D433A974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0"/>
            <a:ext cx="4953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0ECF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E84E33-E49E-4025-B130-F1E51F94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9436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A423"/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7C9D60-0107-48CE-B4FA-B2DC3AFB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076950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模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BA0CAA-0EBC-4BB1-BB29-15AAD04A8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9817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AUC 达标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FDACC0-1C0C-4843-BCB7-E5DF059B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57950"/>
            <a:ext cx="4343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C"/>
                </a:solidFill>
              </a:defRPr>
            </a:pPr>
            <a:r>
              <a:rPr sz="1200" b="0">
                <a:solidFill>
                  <a:srgbClr val="5F738C"/>
                </a:solidFill>
              </a:rPr>
              <a:t>风险预测、英语四级、英语六级等模型达到可展示水平。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2FDCF2-8A22-4CF2-A857-D4D5C0FF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715000"/>
            <a:ext cx="4953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E0ECFA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8082BB-5C5E-4DA2-91C6-E1A05E0C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9436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AB766D-CBAC-442B-8A5B-A866DC68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6076950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释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93D1389-C818-41C3-8AEB-F6F858E09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9817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多维解释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E0E1D2E-1873-414D-AEEF-F7FB638C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457950"/>
            <a:ext cx="4343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C"/>
                </a:solidFill>
              </a:defRPr>
            </a:pPr>
            <a:r>
              <a:rPr sz="1200" b="0">
                <a:solidFill>
                  <a:srgbClr val="5F738C"/>
                </a:solidFill>
              </a:rPr>
              <a:t>从学习投入、行为规律、健康发展、资源利用等维度解释结果。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E476D6E-AD46-488C-A17A-C1507BF9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770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738C"/>
                </a:solidFill>
              </a:defRPr>
            </a:pPr>
            <a:r>
              <a:rPr sz="900" b="0">
                <a:solidFill>
                  <a:srgbClr val="5F738C"/>
                </a:solidFill>
              </a:rPr>
              <a:t>3 / 20</a:t>
            </a:r>
          </a:p>
        </p:txBody>
      </p:sp>
    </p:spTree>
    <p:extLst>
      <p:ext uri="{BB962C8B-B14F-4D97-AF65-F5344CB8AC3E}">
        <p14:creationId xmlns:p14="http://schemas.microsoft.com/office/powerpoint/2010/main" val="3103579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F170C6A-CA8C-48A1-A05A-0C25F58A2B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F11EA8-51D1-4EBE-BF98-2DDA18CE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381000"/>
            <a:ext cx="2667000" cy="266700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4ECD48-4B89-40F7-9273-6C4C99C4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"/>
            <a:ext cx="1524000" cy="152400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CF82AB-0A94-4E23-9C90-C01045AF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F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3955EE-A373-4940-96C6-7B4F9E9C4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FF"/>
                </a:solidFill>
              </a:defRPr>
            </a:pPr>
            <a:r>
              <a:rPr sz="1350" b="1">
                <a:solidFill>
                  <a:srgbClr val="1677FF"/>
                </a:solidFill>
              </a:rPr>
              <a:t>知行雷达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7DF556-8D57-4889-A81D-4DE65ADE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144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738C"/>
                </a:solidFill>
              </a:defRPr>
            </a:pPr>
            <a:r>
              <a:rPr sz="1350" b="1">
                <a:solidFill>
                  <a:srgbClr val="5F738C"/>
                </a:solidFill>
              </a:rPr>
              <a:t>项目目标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469BC8-4590-430D-98EA-260E712B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33D"/>
                </a:solidFill>
              </a:defRPr>
            </a:pPr>
            <a:r>
              <a:rPr sz="2325" b="1">
                <a:solidFill>
                  <a:srgbClr val="10233D"/>
                </a:solidFill>
              </a:rPr>
              <a:t>构建“识别—解释—干预—服务”闭环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2DF578-0C40-4E7A-802F-7AE6A0DC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C"/>
                </a:solidFill>
              </a:defRPr>
            </a:pPr>
            <a:r>
              <a:rPr sz="1200" b="0">
                <a:solidFill>
                  <a:srgbClr val="5F738C"/>
                </a:solidFill>
              </a:rPr>
              <a:t>不仅给出结果，更强调解释性、可执行性和跨端服务能力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EEBA94-F1E8-4500-9091-D6FD6802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742950"/>
            <a:ext cx="1428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E1EE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F101CC-202C-434C-A2CE-181AD56A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191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学生成长分析平台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E01846-0C76-4E15-904B-68A27129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BDF7"/>
          </a:solidFill>
          <a:ln xmlns:a="http://schemas.openxmlformats.org/drawingml/2006/main" w="9525">
            <a:solidFill>
              <a:srgbClr val="40BDF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469F14-BB63-477A-AC79-0C9A1C6C1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67000"/>
            <a:ext cx="514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344D"/>
                </a:solidFill>
              </a:defRPr>
            </a:pPr>
            <a:r>
              <a:rPr sz="1500" b="0">
                <a:solidFill>
                  <a:srgbClr val="21344D"/>
                </a:solidFill>
              </a:rPr>
              <a:t>统一接入多源学生行为与成绩数据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DB4EBC-3231-40CA-8250-7E6C649F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BDF7"/>
          </a:solidFill>
          <a:ln xmlns:a="http://schemas.openxmlformats.org/drawingml/2006/main" w="9525">
            <a:solidFill>
              <a:srgbClr val="40BDF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511E50-260D-4FA0-BB0D-7D51BE4A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62300"/>
            <a:ext cx="514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344D"/>
                </a:solidFill>
              </a:defRPr>
            </a:pPr>
            <a:r>
              <a:rPr sz="1500" b="0">
                <a:solidFill>
                  <a:srgbClr val="21344D"/>
                </a:solidFill>
              </a:rPr>
              <a:t>建立学生个体画像与群体画像体系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B4EE7B-A7F4-4D74-AFEA-6EB54E64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BDF7"/>
          </a:solidFill>
          <a:ln xmlns:a="http://schemas.openxmlformats.org/drawingml/2006/main" w="9525">
            <a:solidFill>
              <a:srgbClr val="40BDF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8C4CC6-4C6C-468F-9C24-6A93651E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57600"/>
            <a:ext cx="514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344D"/>
                </a:solidFill>
              </a:defRPr>
            </a:pPr>
            <a:r>
              <a:rPr sz="1500" b="0">
                <a:solidFill>
                  <a:srgbClr val="21344D"/>
                </a:solidFill>
              </a:rPr>
              <a:t>完成风险识别与多任务成长预测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582873-8BD1-4E38-ACB0-A50A88C8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BDF7"/>
          </a:solidFill>
          <a:ln xmlns:a="http://schemas.openxmlformats.org/drawingml/2006/main" w="9525">
            <a:solidFill>
              <a:srgbClr val="40BDF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70A6F5-CFFA-46DB-84E4-0CB3D580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52900"/>
            <a:ext cx="514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344D"/>
                </a:solidFill>
              </a:defRPr>
            </a:pPr>
            <a:r>
              <a:rPr sz="1500" b="0">
                <a:solidFill>
                  <a:srgbClr val="21344D"/>
                </a:solidFill>
              </a:rPr>
              <a:t>生成个性化报告与干预建议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ED11C0-4C6C-447A-B144-FEDA371A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053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BDF7"/>
          </a:solidFill>
          <a:ln xmlns:a="http://schemas.openxmlformats.org/drawingml/2006/main" w="9525">
            <a:solidFill>
              <a:srgbClr val="40BDF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6FD837-621F-4F0D-A0B9-26F80222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48200"/>
            <a:ext cx="514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344D"/>
                </a:solidFill>
              </a:defRPr>
            </a:pPr>
            <a:r>
              <a:rPr sz="1500" b="0">
                <a:solidFill>
                  <a:srgbClr val="21344D"/>
                </a:solidFill>
              </a:rPr>
              <a:t>通过 Web 与安卓端形成完整演示闭环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EE0586-0D7D-484B-A07A-297E7A02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90800"/>
            <a:ext cx="44767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F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317402-ADBD-4B5F-8B35-7F407BC1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575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FF"/>
                </a:solidFill>
              </a:defRPr>
            </a:pPr>
            <a:r>
              <a:rPr sz="1350" b="1">
                <a:solidFill>
                  <a:srgbClr val="1677FF"/>
                </a:solidFill>
              </a:rPr>
              <a:t>闭环价值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40C2B7-D1C4-42B9-84CF-0731CEE0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38550"/>
            <a:ext cx="7048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C07EF7-D947-4A13-AD69-DBCE6E24B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85762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识别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76AD61-5F33-44A5-BD12-B5124E51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71925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9FF"/>
          </a:solidFill>
          <a:ln xmlns:a="http://schemas.openxmlformats.org/drawingml/2006/main" w="9525">
            <a:solidFill>
              <a:srgbClr val="BDD9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BFE907-426C-4C06-A90D-106F21D1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38550"/>
            <a:ext cx="7048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40BDF7"/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DDB011-0AA9-4C77-907A-814BF087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5762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解释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7974BE-919D-4C25-8610-8391D2AF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971925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9FF"/>
          </a:solidFill>
          <a:ln xmlns:a="http://schemas.openxmlformats.org/drawingml/2006/main" w="9525">
            <a:solidFill>
              <a:srgbClr val="BDD9F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F5D503-E335-4C98-AC1D-14750371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638550"/>
            <a:ext cx="7048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2B07D"/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109AD8-D01D-4559-9BF8-8A2E1758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5762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干预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7DF71A-F68F-406E-BFAD-68AEDA2E5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971925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9FF"/>
          </a:solidFill>
          <a:ln xmlns:a="http://schemas.openxmlformats.org/drawingml/2006/main" w="9525">
            <a:solidFill>
              <a:srgbClr val="BDD9F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C62D48-93F0-41FA-83A1-C7F92FE4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638550"/>
            <a:ext cx="7048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6E7BFF"/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038F6D-F82C-45F7-82C5-3706AEF8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5762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服务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2E4B3E-1ECE-4527-A8DE-C7AA72EA4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625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738C"/>
                </a:solidFill>
              </a:defRPr>
            </a:pPr>
            <a:r>
              <a:rPr sz="1350" b="0">
                <a:solidFill>
                  <a:srgbClr val="5F738C"/>
                </a:solidFill>
              </a:rPr>
              <a:t>从被动筛查，转向主动洞察和持续支持。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7DAF69-96E6-41A4-B0B4-942CF152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770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738C"/>
                </a:solidFill>
              </a:defRPr>
            </a:pPr>
            <a:r>
              <a:rPr sz="900" b="0">
                <a:solidFill>
                  <a:srgbClr val="5F738C"/>
                </a:solidFill>
              </a:rPr>
              <a:t>4 / 20</a:t>
            </a:r>
          </a:p>
        </p:txBody>
      </p:sp>
    </p:spTree>
    <p:extLst>
      <p:ext uri="{BB962C8B-B14F-4D97-AF65-F5344CB8AC3E}">
        <p14:creationId xmlns:p14="http://schemas.microsoft.com/office/powerpoint/2010/main" val="2051708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F170C6A-CA8C-48A1-A05A-0C25F58A2B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3C7DE7-E64E-445F-805B-72EEFDF9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381000"/>
            <a:ext cx="2667000" cy="266700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699174-D4B7-4FF2-A39A-84084A3D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"/>
            <a:ext cx="1524000" cy="152400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B344F4-0A06-4B0F-914B-CDF0F235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F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81B8B6-EE3C-4AB7-A3DC-4E607B7A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FF"/>
                </a:solidFill>
              </a:defRPr>
            </a:pPr>
            <a:r>
              <a:rPr sz="1350" b="1">
                <a:solidFill>
                  <a:srgbClr val="1677FF"/>
                </a:solidFill>
              </a:rPr>
              <a:t>知行雷达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0947BF-C7BB-4FE2-AF0B-138BD322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144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738C"/>
                </a:solidFill>
              </a:defRPr>
            </a:pPr>
            <a:r>
              <a:rPr sz="1350" b="1">
                <a:solidFill>
                  <a:srgbClr val="5F738C"/>
                </a:solidFill>
              </a:rPr>
              <a:t>总体方案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EED6A4-4DC1-4313-BF31-C8E5949B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33D"/>
                </a:solidFill>
              </a:defRPr>
            </a:pPr>
            <a:r>
              <a:rPr sz="2325" b="1">
                <a:solidFill>
                  <a:srgbClr val="10233D"/>
                </a:solidFill>
              </a:rPr>
              <a:t>系统架构：统一后端 + 双 Web + 安卓端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59E4EF-BAB6-4FD2-8BBE-B9559CA0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C"/>
                </a:solidFill>
              </a:defRPr>
            </a:pPr>
            <a:r>
              <a:rPr sz="1200" b="0">
                <a:solidFill>
                  <a:srgbClr val="5F738C"/>
                </a:solidFill>
              </a:rPr>
              <a:t>以 Flask API 为中心，统一服务管理端、学生端、移动端和智能助手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F65B8F-2C07-444D-B019-2F49DEE1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742950"/>
            <a:ext cx="1428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E1EE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69579F-C609-417F-BDCD-43D058FC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191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学生成长分析平台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A69A6D-3592-4ED7-A7D4-BA90A9B3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2476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DCE7F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0E2E00-6F23-49B2-B80A-02D6CA693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86000"/>
            <a:ext cx="2476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F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6C18C7-180F-465F-B8F7-C94F46B0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09750"/>
            <a:ext cx="2286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9FF"/>
          </a:solidFill>
          <a:ln xmlns:a="http://schemas.openxmlformats.org/drawingml/2006/main" w="9525">
            <a:solidFill>
              <a:srgbClr val="DCE7F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ED8555-5B4A-417E-AFCF-B9D8E95F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48000"/>
            <a:ext cx="2286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DF6"/>
          </a:solidFill>
          <a:ln xmlns:a="http://schemas.openxmlformats.org/drawingml/2006/main" w="9525">
            <a:solidFill>
              <a:srgbClr val="DCE7F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3069CE-AE46-4D1D-A5E8-41D577A1F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86250"/>
            <a:ext cx="2286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F4FF"/>
          </a:solidFill>
          <a:ln xmlns:a="http://schemas.openxmlformats.org/drawingml/2006/main" w="9525">
            <a:solidFill>
              <a:srgbClr val="DCE7F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CCFC82-FFE5-4B0C-A304-1E8C6EB6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多源数据层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F07DE8-ECF5-481E-90F3-DA6B4621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86150"/>
            <a:ext cx="2057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F738C"/>
                </a:solidFill>
              </a:defRPr>
            </a:pPr>
            <a:r>
              <a:rPr sz="1125" b="0">
                <a:solidFill>
                  <a:srgbClr val="5F738C"/>
                </a:solidFill>
              </a:rPr>
              <a:t>基础信息 / 行为 / 学业 / 体测 / 英语 / 奖学金 / 竞赛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98ED48-AF51-4358-A26E-EC5A26E6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6098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33D"/>
                </a:solidFill>
              </a:defRPr>
            </a:pPr>
            <a:r>
              <a:rPr sz="1800" b="1">
                <a:solidFill>
                  <a:srgbClr val="10233D"/>
                </a:solidFill>
              </a:rPr>
              <a:t>统一 Flask 服务层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7D7269-03E0-4D3E-A0E1-D2658B93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432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D1A31C-579D-42B2-9509-3B1B5F79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0861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344D"/>
                </a:solidFill>
              </a:defRPr>
            </a:pPr>
            <a:r>
              <a:rPr sz="1500" b="0">
                <a:solidFill>
                  <a:srgbClr val="21344D"/>
                </a:solidFill>
              </a:rPr>
              <a:t>鉴权与账号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6745A7-0D9A-4EB0-926A-3F765C6D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86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892415-F766-4495-9710-842A68CA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4290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344D"/>
                </a:solidFill>
              </a:defRPr>
            </a:pPr>
            <a:r>
              <a:rPr sz="1500" b="0">
                <a:solidFill>
                  <a:srgbClr val="21344D"/>
                </a:solidFill>
              </a:rPr>
              <a:t>画像与风险接口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BFE410-1AEB-4CC1-B5A5-5F4E0826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29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43B2FA-605B-43DD-94E6-CC6560F0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7719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344D"/>
                </a:solidFill>
              </a:defRPr>
            </a:pPr>
            <a:r>
              <a:rPr sz="1500" b="0">
                <a:solidFill>
                  <a:srgbClr val="21344D"/>
                </a:solidFill>
              </a:rPr>
              <a:t>预测与报告服务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68DA97-C69B-43C0-93AC-5427B29A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71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E23F2B-8068-43A5-A5CD-89BA2938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1148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344D"/>
                </a:solidFill>
              </a:defRPr>
            </a:pPr>
            <a:r>
              <a:rPr sz="1500" b="0">
                <a:solidFill>
                  <a:srgbClr val="21344D"/>
                </a:solidFill>
              </a:rPr>
              <a:t>图表与大模型接口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765DDF-BB8C-4B6E-932F-F4D739EB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1336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管理端 Web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207508-0398-4EE7-8D01-9A0BB997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003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738C"/>
                </a:solidFill>
              </a:defRPr>
            </a:pPr>
            <a:r>
              <a:rPr sz="1050" b="0">
                <a:solidFill>
                  <a:srgbClr val="5F738C"/>
                </a:solidFill>
              </a:rPr>
              <a:t>总览 / 名单 / 对比 / 模型 / 分析成果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2F7D70-00C1-45F6-9AF9-D98F14255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718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学生端 Web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9EC656-9538-4B93-B430-F9D913B5D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385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738C"/>
                </a:solidFill>
              </a:defRPr>
            </a:pPr>
            <a:r>
              <a:rPr sz="1050" b="0">
                <a:solidFill>
                  <a:srgbClr val="5F738C"/>
                </a:solidFill>
              </a:rPr>
              <a:t>画像 / 预测 / 报告 / 智能助手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7A22A0-3C04-47B5-8495-D7CAE890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6101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安卓端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0C05B1-7F54-407C-BAFD-EEF703BF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8768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738C"/>
                </a:solidFill>
              </a:defRPr>
            </a:pPr>
            <a:r>
              <a:rPr sz="1050" b="0">
                <a:solidFill>
                  <a:srgbClr val="5F738C"/>
                </a:solidFill>
              </a:rPr>
              <a:t>学生端与管理端移动化同步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624B25-FF70-4CE3-B0AB-8C614D05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1470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FF"/>
          </a:solidFill>
          <a:ln xmlns:a="http://schemas.openxmlformats.org/drawingml/2006/main" w="9525">
            <a:solidFill>
              <a:srgbClr val="BFD8F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F9158C-5762-4DAE-A8A6-C5358708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4790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FF"/>
          </a:solidFill>
          <a:ln xmlns:a="http://schemas.openxmlformats.org/drawingml/2006/main" w="9525">
            <a:solidFill>
              <a:srgbClr val="BFD8F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EE2891-101A-4711-AD33-22804513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8615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FF"/>
          </a:solidFill>
          <a:ln xmlns:a="http://schemas.openxmlformats.org/drawingml/2006/main" w="9525">
            <a:solidFill>
              <a:srgbClr val="BFD8F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DD40F1-C7E9-4459-BF56-414ACD42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2440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FF"/>
          </a:solidFill>
          <a:ln xmlns:a="http://schemas.openxmlformats.org/drawingml/2006/main" w="9525">
            <a:solidFill>
              <a:srgbClr val="BFD8FF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9452BA1-7C18-4C62-9B66-33EDDAB3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770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738C"/>
                </a:solidFill>
              </a:defRPr>
            </a:pPr>
            <a:r>
              <a:rPr sz="900" b="0">
                <a:solidFill>
                  <a:srgbClr val="5F738C"/>
                </a:solidFill>
              </a:rPr>
              <a:t>5 / 20</a:t>
            </a:r>
          </a:p>
        </p:txBody>
      </p:sp>
    </p:spTree>
    <p:extLst>
      <p:ext uri="{BB962C8B-B14F-4D97-AF65-F5344CB8AC3E}">
        <p14:creationId xmlns:p14="http://schemas.microsoft.com/office/powerpoint/2010/main" val="6121834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F170C6A-CA8C-48A1-A05A-0C25F58A2B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FD44A7-1E95-44A7-9F86-C3D68E53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381000"/>
            <a:ext cx="2667000" cy="266700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AEAC01-1FF1-4B6C-BE6C-ABAE0FEA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"/>
            <a:ext cx="1524000" cy="152400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9C5716-1890-465E-A7CB-A03801D1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F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33BAEA-E91A-4474-A39F-8E3547E9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FF"/>
                </a:solidFill>
              </a:defRPr>
            </a:pPr>
            <a:r>
              <a:rPr sz="1350" b="1">
                <a:solidFill>
                  <a:srgbClr val="1677FF"/>
                </a:solidFill>
              </a:rPr>
              <a:t>知行雷达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02AF95-D5C8-403A-9871-91A7BEA9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144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738C"/>
                </a:solidFill>
              </a:defRPr>
            </a:pPr>
            <a:r>
              <a:rPr sz="1350" b="1">
                <a:solidFill>
                  <a:srgbClr val="5F738C"/>
                </a:solidFill>
              </a:rPr>
              <a:t>数据工程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EE256E-BDAD-42F2-911C-705134CE8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33D"/>
                </a:solidFill>
              </a:defRPr>
            </a:pPr>
            <a:r>
              <a:rPr sz="2325" b="1">
                <a:solidFill>
                  <a:srgbClr val="10233D"/>
                </a:solidFill>
              </a:rPr>
              <a:t>多源数据整合与特征工程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198403-4400-47E8-BA35-B332CE99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C"/>
                </a:solidFill>
              </a:defRPr>
            </a:pPr>
            <a:r>
              <a:rPr sz="1200" b="0">
                <a:solidFill>
                  <a:srgbClr val="5F738C"/>
                </a:solidFill>
              </a:rPr>
              <a:t>从原始业务表到训练主表、展示主表，形成基础特征与进阶特征两层结构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1D7C08-6138-4889-9977-9D349CE0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742950"/>
            <a:ext cx="1428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E1EE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C3273E-5FBA-4789-A504-CE23E6E4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191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学生成长分析平台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EF7CBA-8EA7-485E-8A5F-029FA4FB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4953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E0ECF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9627C8-C79D-4FE9-8E69-CF12502A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051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2D5410-8861-4400-8A0C-C34D7EFE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38450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BE6558-F8D8-480A-BE3E-D186D864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432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基础信息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9DFD33-9BC8-436C-B556-B5631FBA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19450"/>
            <a:ext cx="4343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C"/>
                </a:solidFill>
              </a:defRPr>
            </a:pPr>
            <a:r>
              <a:rPr sz="1200" b="0">
                <a:solidFill>
                  <a:srgbClr val="5F738C"/>
                </a:solidFill>
              </a:rPr>
              <a:t>性别、民族、政治面貌、学院、专业、籍贯等字段统一对齐。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6BF4DC-7986-43B7-A42E-BCA5642E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76500"/>
            <a:ext cx="4953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DF9FF"/>
          </a:solidFill>
          <a:ln xmlns:a="http://schemas.openxmlformats.org/drawingml/2006/main" w="9525">
            <a:solidFill>
              <a:srgbClr val="E0ECF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19B980-0B39-43A5-ADDA-2168C3BB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051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40BDF7"/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C2E86E-CFE0-43FE-8AC7-E059BA51D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38450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CA8490-2BD3-4B0B-BBA5-6AF1D742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432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行为数据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DFEE14-2122-4D50-B4A1-7E3C7BC7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19450"/>
            <a:ext cx="4343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C"/>
                </a:solidFill>
              </a:defRPr>
            </a:pPr>
            <a:r>
              <a:rPr sz="1200" b="0">
                <a:solidFill>
                  <a:srgbClr val="5F738C"/>
                </a:solidFill>
              </a:rPr>
              <a:t>上网、门禁、图书馆、课程行为、视频学习等数据聚合。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432290-C0F0-4603-A855-48BA9148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4953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EFDF6"/>
          </a:solidFill>
          <a:ln xmlns:a="http://schemas.openxmlformats.org/drawingml/2006/main" w="9525">
            <a:solidFill>
              <a:srgbClr val="E0ECF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86DB09-DB36-4EB3-B1B9-0CFA183D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243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2B07D"/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A04D73-5DC4-4085-8DE7-738CF8E4E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57700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1152BE-B2BD-434F-BB48-BD9B1FA4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624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成绩与成长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8F7C90-4C38-4AA1-B476-3E3122DCA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38700"/>
            <a:ext cx="4343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C"/>
                </a:solidFill>
              </a:defRPr>
            </a:pPr>
            <a:r>
              <a:rPr sz="1200" b="0">
                <a:solidFill>
                  <a:srgbClr val="5F738C"/>
                </a:solidFill>
              </a:rPr>
              <a:t>英语、奖学金、竞赛、体测、综合成绩纳入统一分析。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B5A36E-62D5-44F2-9961-98A1E6EE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095750"/>
            <a:ext cx="4953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0ECF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C58252-645D-4A90-8375-70542F14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243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A423"/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214BD3-D65D-4469-957D-84052669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57700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治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78C42E-1FFB-4BB8-A03C-07CB6E70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624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特征治理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8D043F-F4B8-49A3-8396-CFDFC1F4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38700"/>
            <a:ext cx="4343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C"/>
                </a:solidFill>
              </a:defRPr>
            </a:pPr>
            <a:r>
              <a:rPr sz="1200" b="0">
                <a:solidFill>
                  <a:srgbClr val="5F738C"/>
                </a:solidFill>
              </a:rPr>
              <a:t>区分真实0值与原始缺失，避免误导页面和模型。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0B4DF7-5B08-43FA-ABA1-65DCE8DB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770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738C"/>
                </a:solidFill>
              </a:defRPr>
            </a:pPr>
            <a:r>
              <a:rPr sz="900" b="0">
                <a:solidFill>
                  <a:srgbClr val="5F738C"/>
                </a:solidFill>
              </a:rPr>
              <a:t>6 / 20</a:t>
            </a:r>
          </a:p>
        </p:txBody>
      </p:sp>
    </p:spTree>
    <p:extLst>
      <p:ext uri="{BB962C8B-B14F-4D97-AF65-F5344CB8AC3E}">
        <p14:creationId xmlns:p14="http://schemas.microsoft.com/office/powerpoint/2010/main" val="18053369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F170C6A-CA8C-48A1-A05A-0C25F58A2B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922779-7401-4CD7-BC58-1EF152CB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381000"/>
            <a:ext cx="2667000" cy="266700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AC1BA5-6C08-49D8-934E-C7BB823B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"/>
            <a:ext cx="1524000" cy="152400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2FCC97-C85F-4136-BF3A-CD1D36C2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F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5C80AA-ACD4-4713-BAEC-BC204763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FF"/>
                </a:solidFill>
              </a:defRPr>
            </a:pPr>
            <a:r>
              <a:rPr sz="1350" b="1">
                <a:solidFill>
                  <a:srgbClr val="1677FF"/>
                </a:solidFill>
              </a:rPr>
              <a:t>知行雷达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7B049A-3D25-439B-A879-669C41DD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144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738C"/>
                </a:solidFill>
              </a:defRPr>
            </a:pPr>
            <a:r>
              <a:rPr sz="1350" b="1">
                <a:solidFill>
                  <a:srgbClr val="5F738C"/>
                </a:solidFill>
              </a:rPr>
              <a:t>画像体系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F45285-3DA0-410C-83EA-1F7D4D39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33D"/>
                </a:solidFill>
              </a:defRPr>
            </a:pPr>
            <a:r>
              <a:rPr sz="2325" b="1">
                <a:solidFill>
                  <a:srgbClr val="10233D"/>
                </a:solidFill>
              </a:rPr>
              <a:t>学生个体画像：从主画像到细分子类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94E155-C70B-43E6-810D-A6F343FF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C"/>
                </a:solidFill>
              </a:defRPr>
            </a:pPr>
            <a:r>
              <a:rPr sz="1200" b="0">
                <a:solidFill>
                  <a:srgbClr val="5F738C"/>
                </a:solidFill>
              </a:rPr>
              <a:t>不仅知道学生属于哪一类，还知道这类内部的具体特征与提升方向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145680-D3CD-41EF-AB02-79935A46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742950"/>
            <a:ext cx="1428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E1EE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B25566-FB35-47AA-AC88-CE1FA45F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191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学生成长分析平台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FF89B6-A873-4CD5-A4D2-C7865E7E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4953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E0ECF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7C845E-8BED-4D89-8E5B-93C41EE91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051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DDBC4A-1C4B-4EBF-A258-F13F5962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38450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5E6BE9-3F7B-4A5C-85BB-0EF8BCB1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432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高投入稳健型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79BF5C-D973-4513-A2EC-632D9499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19450"/>
            <a:ext cx="4343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C"/>
                </a:solidFill>
              </a:defRPr>
            </a:pPr>
            <a:r>
              <a:rPr sz="1200" b="0">
                <a:solidFill>
                  <a:srgbClr val="5F738C"/>
                </a:solidFill>
              </a:rPr>
              <a:t>学习投入高、状态稳定、资源利用积极。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7C16D8-C2BB-4132-8856-205C01E4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76500"/>
            <a:ext cx="4953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0ECF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C5A4BC-1293-4023-8FCD-DEF0BED0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051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A423"/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87E337-7C31-4424-B27E-A2CC1C91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38450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7372D2-5180-4052-B187-3214F2BE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432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低投入风险型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C305FA-8ED3-451E-BE90-6A97DA96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19450"/>
            <a:ext cx="4343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C"/>
                </a:solidFill>
              </a:defRPr>
            </a:pPr>
            <a:r>
              <a:rPr sz="1200" b="0">
                <a:solidFill>
                  <a:srgbClr val="5F738C"/>
                </a:solidFill>
              </a:rPr>
              <a:t>投入不足、基础较弱，需要优先补强。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A7F7D5-5C31-41EE-922D-A1FB311D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4953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F4FF"/>
          </a:solidFill>
          <a:ln xmlns:a="http://schemas.openxmlformats.org/drawingml/2006/main" w="9525">
            <a:solidFill>
              <a:srgbClr val="E0ECF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207F99-50D3-41A7-ACD3-2491E723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243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6E7BFF"/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D90B1D-7C9D-45C9-9448-97B70625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57700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72C19B-86BE-497C-A5E7-41F2BBE2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624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夜间波动型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D03598-8836-4F9D-835D-F0948307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38700"/>
            <a:ext cx="4343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C"/>
                </a:solidFill>
              </a:defRPr>
            </a:pPr>
            <a:r>
              <a:rPr sz="1200" b="0">
                <a:solidFill>
                  <a:srgbClr val="5F738C"/>
                </a:solidFill>
              </a:rPr>
              <a:t>夜间活跃或节律偏移，状态容易波动。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1737A1-8932-4A0C-A109-7BFEB266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095750"/>
            <a:ext cx="4953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DF9FF"/>
          </a:solidFill>
          <a:ln xmlns:a="http://schemas.openxmlformats.org/drawingml/2006/main" w="9525">
            <a:solidFill>
              <a:srgbClr val="E0ECF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56FF5F-EFFE-4437-B98F-8B24E269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243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40BDF7"/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BE9A03-2FB7-49CC-93AC-A162533C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57700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C2BB6C-E975-4BB5-A0D8-5E7A8E6B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624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发展过渡型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3EF3E6-6BCF-4B24-9D62-81F350EA4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38700"/>
            <a:ext cx="4343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C"/>
                </a:solidFill>
              </a:defRPr>
            </a:pPr>
            <a:r>
              <a:rPr sz="1200" b="0">
                <a:solidFill>
                  <a:srgbClr val="5F738C"/>
                </a:solidFill>
              </a:rPr>
              <a:t>尚处适应与过渡阶段，需持续观察。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4CC447-451A-4F0A-A975-99898D84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19750"/>
            <a:ext cx="1047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738C"/>
                </a:solidFill>
              </a:defRPr>
            </a:pPr>
            <a:r>
              <a:rPr sz="1350" b="0">
                <a:solidFill>
                  <a:srgbClr val="5F738C"/>
                </a:solidFill>
              </a:rPr>
              <a:t>每类主画像下继续细分为子类，并提供对应解释文案与提示。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26E698-7C4F-4B30-A609-86B5CEE8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770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738C"/>
                </a:solidFill>
              </a:defRPr>
            </a:pPr>
            <a:r>
              <a:rPr sz="900" b="0">
                <a:solidFill>
                  <a:srgbClr val="5F738C"/>
                </a:solidFill>
              </a:rPr>
              <a:t>7 / 20</a:t>
            </a:r>
          </a:p>
        </p:txBody>
      </p:sp>
    </p:spTree>
    <p:extLst>
      <p:ext uri="{BB962C8B-B14F-4D97-AF65-F5344CB8AC3E}">
        <p14:creationId xmlns:p14="http://schemas.microsoft.com/office/powerpoint/2010/main" val="8496949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F170C6A-CA8C-48A1-A05A-0C25F58A2B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3780B6-83F7-4723-A462-BBDED74C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381000"/>
            <a:ext cx="2667000" cy="266700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9F6AC1-BEA3-4A3C-AEA5-5888772F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"/>
            <a:ext cx="1524000" cy="152400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3C7CA1-E877-41E2-9B6C-A1CA9FE1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F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A0EDB3-7ED2-455B-98C7-C6E716F2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FF"/>
                </a:solidFill>
              </a:defRPr>
            </a:pPr>
            <a:r>
              <a:rPr sz="1350" b="1">
                <a:solidFill>
                  <a:srgbClr val="1677FF"/>
                </a:solidFill>
              </a:rPr>
              <a:t>知行雷达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7E146C-4037-4E3C-B740-8866F3C22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144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738C"/>
                </a:solidFill>
              </a:defRPr>
            </a:pPr>
            <a:r>
              <a:rPr sz="1350" b="1">
                <a:solidFill>
                  <a:srgbClr val="5F738C"/>
                </a:solidFill>
              </a:rPr>
              <a:t>群体分析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451F88-38FB-4F7E-A3EF-5A4D56DB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33D"/>
                </a:solidFill>
              </a:defRPr>
            </a:pPr>
            <a:r>
              <a:rPr sz="2325" b="1">
                <a:solidFill>
                  <a:srgbClr val="10233D"/>
                </a:solidFill>
              </a:rPr>
              <a:t>群体画像：支持院系、专业与群体差异对比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8214B5-F949-4E25-9EA7-F6E89DFB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C"/>
                </a:solidFill>
              </a:defRPr>
            </a:pPr>
            <a:r>
              <a:rPr sz="1200" b="0">
                <a:solidFill>
                  <a:srgbClr val="5F738C"/>
                </a:solidFill>
              </a:rPr>
              <a:t>从单学生扩展到学院与专业层面的风险结构、主导画像和注册覆盖情况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21D7DE-8F62-4509-B336-74EA68C5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742950"/>
            <a:ext cx="1428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E1EE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2CD972-6AB9-41D3-AB7F-7BD793DD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191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学生成长分析平台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E3956A-2CE6-4B06-BF84-871BEB76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476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E0ECF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A7EA8B-96ED-4B7A-8EC3-9A959EF9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738C"/>
                </a:solidFill>
              </a:defRPr>
            </a:pPr>
            <a:r>
              <a:rPr sz="1200" b="1">
                <a:solidFill>
                  <a:srgbClr val="5F738C"/>
                </a:solidFill>
              </a:rPr>
              <a:t>样本总量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D0E079-6094-43EF-BFF6-3844B2FD3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718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D"/>
                </a:solidFill>
              </a:defRPr>
            </a:pPr>
            <a:r>
              <a:rPr sz="2250" b="1">
                <a:solidFill>
                  <a:srgbClr val="10233D"/>
                </a:solidFill>
              </a:rPr>
              <a:t>2500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B44E75-F223-4A9C-9EB5-AC4BB0BE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718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738C"/>
                </a:solidFill>
              </a:defRPr>
            </a:pPr>
            <a:r>
              <a:rPr sz="975" b="0">
                <a:solidFill>
                  <a:srgbClr val="5F738C"/>
                </a:solidFill>
              </a:rPr>
              <a:t>真实学生主样本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780CAF-F989-421B-A2D0-CC1539F7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81250"/>
            <a:ext cx="2476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DF9FF"/>
          </a:solidFill>
          <a:ln xmlns:a="http://schemas.openxmlformats.org/drawingml/2006/main" w="9525">
            <a:solidFill>
              <a:srgbClr val="E0ECF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5DB707-45E8-4EC0-8C47-AC52156C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6098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738C"/>
                </a:solidFill>
              </a:defRPr>
            </a:pPr>
            <a:r>
              <a:rPr sz="1200" b="1">
                <a:solidFill>
                  <a:srgbClr val="5F738C"/>
                </a:solidFill>
              </a:rPr>
              <a:t>主画像类别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F56629-E65F-46C7-B825-F73FC54A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718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D"/>
                </a:solidFill>
              </a:defRPr>
            </a:pPr>
            <a:r>
              <a:rPr sz="2250" b="1">
                <a:solidFill>
                  <a:srgbClr val="10233D"/>
                </a:solidFill>
              </a:rPr>
              <a:t>4 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232CC5-D006-4711-A873-A3A5B123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3718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738C"/>
                </a:solidFill>
              </a:defRPr>
            </a:pPr>
            <a:r>
              <a:rPr sz="975" b="0">
                <a:solidFill>
                  <a:srgbClr val="5F738C"/>
                </a:solidFill>
              </a:rPr>
              <a:t>支持主导画像分析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5166E0-2BE8-4C5A-B1FD-143B3829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2476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3F4FF"/>
          </a:solidFill>
          <a:ln xmlns:a="http://schemas.openxmlformats.org/drawingml/2006/main" w="9525">
            <a:solidFill>
              <a:srgbClr val="E0ECF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FCDDEA-68A2-4FD9-8256-1C62620DF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098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738C"/>
                </a:solidFill>
              </a:defRPr>
            </a:pPr>
            <a:r>
              <a:rPr sz="1200" b="1">
                <a:solidFill>
                  <a:srgbClr val="5F738C"/>
                </a:solidFill>
              </a:rPr>
              <a:t>细分子类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053430-8AB0-4822-9151-D91524D4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718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D"/>
                </a:solidFill>
              </a:defRPr>
            </a:pPr>
            <a:r>
              <a:rPr sz="2250" b="1">
                <a:solidFill>
                  <a:srgbClr val="10233D"/>
                </a:solidFill>
              </a:rPr>
              <a:t>12 类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849EE1-3D64-419D-82C1-E3D7D4F5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718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738C"/>
                </a:solidFill>
              </a:defRPr>
            </a:pPr>
            <a:r>
              <a:rPr sz="975" b="0">
                <a:solidFill>
                  <a:srgbClr val="5F738C"/>
                </a:solidFill>
              </a:rPr>
              <a:t>适合做群体解释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487931-1B20-49FA-934F-074FE6C6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81250"/>
            <a:ext cx="2476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0ECF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4A5257-C31A-4C36-B054-45D32AF5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6098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738C"/>
                </a:solidFill>
              </a:defRPr>
            </a:pPr>
            <a:r>
              <a:rPr sz="1200" b="1">
                <a:solidFill>
                  <a:srgbClr val="5F738C"/>
                </a:solidFill>
              </a:rPr>
              <a:t>分析图表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C66674-A8DA-44BC-A9CE-48B276EB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9718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D"/>
                </a:solidFill>
              </a:defRPr>
            </a:pPr>
            <a:r>
              <a:rPr sz="2250" b="1">
                <a:solidFill>
                  <a:srgbClr val="10233D"/>
                </a:solidFill>
              </a:rPr>
              <a:t>8 张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6B252A-2B12-4C7C-A222-BFCCBA38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3718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738C"/>
                </a:solidFill>
              </a:defRPr>
            </a:pPr>
            <a:r>
              <a:rPr sz="975" b="0">
                <a:solidFill>
                  <a:srgbClr val="5F738C"/>
                </a:solidFill>
              </a:rPr>
              <a:t>支撑全样本分析展示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787DE7-5F0F-4567-9574-88361DC96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B07D"/>
          </a:solidFill>
          <a:ln xmlns:a="http://schemas.openxmlformats.org/drawingml/2006/main" w="9525">
            <a:solidFill>
              <a:srgbClr val="22B07D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999FB4-6C90-49D1-84E2-F38D1FC6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957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344D"/>
                </a:solidFill>
              </a:defRPr>
            </a:pPr>
            <a:r>
              <a:rPr sz="1500" b="0">
                <a:solidFill>
                  <a:srgbClr val="21344D"/>
                </a:solidFill>
              </a:rPr>
              <a:t>比较不同学院高风险率和注册覆盖率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BA8DB6-C055-4B6A-B81B-4AC06E16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0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B07D"/>
          </a:solidFill>
          <a:ln xmlns:a="http://schemas.openxmlformats.org/drawingml/2006/main" w="9525">
            <a:solidFill>
              <a:srgbClr val="22B07D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A00DFD-A518-421E-8EDE-9B5A232AF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529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344D"/>
                </a:solidFill>
              </a:defRPr>
            </a:pPr>
            <a:r>
              <a:rPr sz="1500" b="0">
                <a:solidFill>
                  <a:srgbClr val="21344D"/>
                </a:solidFill>
              </a:rPr>
              <a:t>展示主导画像与主导细分画像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02D9D4-F368-4F40-83F4-D48C686C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67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B07D"/>
          </a:solidFill>
          <a:ln xmlns:a="http://schemas.openxmlformats.org/drawingml/2006/main" w="9525">
            <a:solidFill>
              <a:srgbClr val="22B07D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C2564F-BB13-42F3-A18C-4AEE52B4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101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344D"/>
                </a:solidFill>
              </a:defRPr>
            </a:pPr>
            <a:r>
              <a:rPr sz="1500" b="0">
                <a:solidFill>
                  <a:srgbClr val="21344D"/>
                </a:solidFill>
              </a:rPr>
              <a:t>支持从群体卡片进入学生名单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D3F540-17FA-46C6-9B7C-D334AB48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B07D"/>
          </a:solidFill>
          <a:ln xmlns:a="http://schemas.openxmlformats.org/drawingml/2006/main" w="9525">
            <a:solidFill>
              <a:srgbClr val="22B07D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FD508AC-CE7E-410A-B3D7-A25F393E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673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344D"/>
                </a:solidFill>
              </a:defRPr>
            </a:pPr>
            <a:r>
              <a:rPr sz="1500" b="0">
                <a:solidFill>
                  <a:srgbClr val="21344D"/>
                </a:solidFill>
              </a:rPr>
              <a:t>帮助辅导员锁定重点群体与关注方向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8DE703-91E2-48DE-BA35-44713A17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770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738C"/>
                </a:solidFill>
              </a:defRPr>
            </a:pPr>
            <a:r>
              <a:rPr sz="900" b="0">
                <a:solidFill>
                  <a:srgbClr val="5F738C"/>
                </a:solidFill>
              </a:rPr>
              <a:t>8 / 20</a:t>
            </a:r>
          </a:p>
        </p:txBody>
      </p:sp>
    </p:spTree>
    <p:extLst>
      <p:ext uri="{BB962C8B-B14F-4D97-AF65-F5344CB8AC3E}">
        <p14:creationId xmlns:p14="http://schemas.microsoft.com/office/powerpoint/2010/main" val="10008268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F170C6A-CA8C-48A1-A05A-0C25F58A2B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1162E5-0F83-487E-B973-55910A0F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381000"/>
            <a:ext cx="2667000" cy="266700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66AAAB-41CE-4855-8144-83787C89D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"/>
            <a:ext cx="1524000" cy="152400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EFF78D-6EFA-4073-9C9B-3DC9CA9F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F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C9D1F6-2920-43DE-A4E1-5BEC20FA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FF"/>
                </a:solidFill>
              </a:defRPr>
            </a:pPr>
            <a:r>
              <a:rPr sz="1350" b="1">
                <a:solidFill>
                  <a:srgbClr val="1677FF"/>
                </a:solidFill>
              </a:rPr>
              <a:t>知行雷达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A84A7A-5C94-43AA-ACB9-C6BF7F83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144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738C"/>
                </a:solidFill>
              </a:defRPr>
            </a:pPr>
            <a:r>
              <a:rPr sz="1350" b="1">
                <a:solidFill>
                  <a:srgbClr val="5F738C"/>
                </a:solidFill>
              </a:rPr>
              <a:t>核心模型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B1AB0F-FADA-4A25-A326-4229DCB6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33D"/>
                </a:solidFill>
              </a:defRPr>
            </a:pPr>
            <a:r>
              <a:rPr sz="2325" b="1">
                <a:solidFill>
                  <a:srgbClr val="10233D"/>
                </a:solidFill>
              </a:rPr>
              <a:t>风险预测模型达到赛题要求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E65BDD-45F7-4117-9FCF-D2AE3832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C"/>
                </a:solidFill>
              </a:defRPr>
            </a:pPr>
            <a:r>
              <a:rPr sz="1200" b="0">
                <a:solidFill>
                  <a:srgbClr val="5F738C"/>
                </a:solidFill>
              </a:rPr>
              <a:t>风险模型 AUC 约 0.92，作为预警主线模型用于支撑管理端与学生端解释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C765C1-7A4C-4EFD-9573-B21306F2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742950"/>
            <a:ext cx="1428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E1EE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02B4E3-80DE-48F2-BA8C-3B5B2EF16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191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学生成长分析平台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0E74B7-33E9-43A2-AAAF-2C474DFF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476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E0ECF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2AA286-BF6C-45E4-B51C-FA592025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738C"/>
                </a:solidFill>
              </a:defRPr>
            </a:pPr>
            <a:r>
              <a:rPr sz="1200" b="1">
                <a:solidFill>
                  <a:srgbClr val="5F738C"/>
                </a:solidFill>
              </a:rPr>
              <a:t>RF Accuracy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61ED28-9E91-4A3A-88A9-4F352A38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718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D"/>
                </a:solidFill>
              </a:defRPr>
            </a:pPr>
            <a:r>
              <a:rPr sz="2250" b="1">
                <a:solidFill>
                  <a:srgbClr val="10233D"/>
                </a:solidFill>
              </a:rPr>
              <a:t>0.83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D8E316-C8E1-4ABA-9CA3-9D69F4AA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718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738C"/>
                </a:solidFill>
              </a:defRPr>
            </a:pPr>
            <a:r>
              <a:rPr sz="975" b="0">
                <a:solidFill>
                  <a:srgbClr val="5F738C"/>
                </a:solidFill>
              </a:rPr>
              <a:t>二分类准确率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6F3BDE-6775-4167-B06D-591B6ADF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81250"/>
            <a:ext cx="2476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DF9FF"/>
          </a:solidFill>
          <a:ln xmlns:a="http://schemas.openxmlformats.org/drawingml/2006/main" w="9525">
            <a:solidFill>
              <a:srgbClr val="E0ECF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E0D2B7-7C24-4EAC-B409-2BB551929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6098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738C"/>
                </a:solidFill>
              </a:defRPr>
            </a:pPr>
            <a:r>
              <a:rPr sz="1200" b="1">
                <a:solidFill>
                  <a:srgbClr val="5F738C"/>
                </a:solidFill>
              </a:rPr>
              <a:t>RF F1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3129CD-F080-4F2F-8495-6261E4C0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718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D"/>
                </a:solidFill>
              </a:defRPr>
            </a:pPr>
            <a:r>
              <a:rPr sz="2250" b="1">
                <a:solidFill>
                  <a:srgbClr val="10233D"/>
                </a:solidFill>
              </a:rPr>
              <a:t>0.863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382381-40DD-454D-8D1B-C3D09DBA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3718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738C"/>
                </a:solidFill>
              </a:defRPr>
            </a:pPr>
            <a:r>
              <a:rPr sz="975" b="0">
                <a:solidFill>
                  <a:srgbClr val="5F738C"/>
                </a:solidFill>
              </a:rPr>
              <a:t>综合精度与召回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984434-D499-483E-8B17-FD9D1B18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2476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EFDF6"/>
          </a:solidFill>
          <a:ln xmlns:a="http://schemas.openxmlformats.org/drawingml/2006/main" w="9525">
            <a:solidFill>
              <a:srgbClr val="E0ECF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9F8565-04CE-4F7E-AE72-EFC7B612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098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738C"/>
                </a:solidFill>
              </a:defRPr>
            </a:pPr>
            <a:r>
              <a:rPr sz="1200" b="1">
                <a:solidFill>
                  <a:srgbClr val="5F738C"/>
                </a:solidFill>
              </a:rPr>
              <a:t>RF AUC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839BBC-7593-46B8-B77F-B09750D3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718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D"/>
                </a:solidFill>
              </a:defRPr>
            </a:pPr>
            <a:r>
              <a:rPr sz="2250" b="1">
                <a:solidFill>
                  <a:srgbClr val="10233D"/>
                </a:solidFill>
              </a:rPr>
              <a:t>0.921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FAD994-D082-4B8C-BAAC-0933F344E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718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738C"/>
                </a:solidFill>
              </a:defRPr>
            </a:pPr>
            <a:r>
              <a:rPr sz="975" b="0">
                <a:solidFill>
                  <a:srgbClr val="5F738C"/>
                </a:solidFill>
              </a:rPr>
              <a:t>超过赛题 AUC≥0.8 要求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21C448-41B6-408C-A1CE-5A695445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81250"/>
            <a:ext cx="2476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3F4FF"/>
          </a:solidFill>
          <a:ln xmlns:a="http://schemas.openxmlformats.org/drawingml/2006/main" w="9525">
            <a:solidFill>
              <a:srgbClr val="E0ECF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0B47DC-5890-49ED-BF6C-7E7430CC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6098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738C"/>
                </a:solidFill>
              </a:defRPr>
            </a:pPr>
            <a:r>
              <a:rPr sz="1200" b="1">
                <a:solidFill>
                  <a:srgbClr val="5F738C"/>
                </a:solidFill>
              </a:rPr>
              <a:t>CV AUC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6A278E-82E3-4966-BDB4-52021626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9718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D"/>
                </a:solidFill>
              </a:defRPr>
            </a:pPr>
            <a:r>
              <a:rPr sz="2250" b="1">
                <a:solidFill>
                  <a:srgbClr val="10233D"/>
                </a:solidFill>
              </a:rPr>
              <a:t>0.936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8A0260-9CF9-40EF-ACDC-E326891D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3718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738C"/>
                </a:solidFill>
              </a:defRPr>
            </a:pPr>
            <a:r>
              <a:rPr sz="975" b="0">
                <a:solidFill>
                  <a:srgbClr val="5F738C"/>
                </a:solidFill>
              </a:rPr>
              <a:t>交叉验证稳定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E53E19-9D6E-4ED3-A83F-6DACC4A2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5DBAF4-0CFE-446D-A6A8-07501E82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95750"/>
            <a:ext cx="514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344D"/>
                </a:solidFill>
              </a:defRPr>
            </a:pPr>
            <a:r>
              <a:rPr sz="1500" b="0">
                <a:solidFill>
                  <a:srgbClr val="21344D"/>
                </a:solidFill>
              </a:rPr>
              <a:t>风险预测是系统最核心的主任务模型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F36EC0-DE24-4EFD-8657-03E637987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0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C34D33-D4A5-42B2-85C6-B14318E6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52950"/>
            <a:ext cx="514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344D"/>
                </a:solidFill>
              </a:defRPr>
            </a:pPr>
            <a:r>
              <a:rPr sz="1500" b="0">
                <a:solidFill>
                  <a:srgbClr val="21344D"/>
                </a:solidFill>
              </a:rPr>
              <a:t>结果在管理端总览、风险名单和学生端首页同步展示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B527F0-F866-4ACD-94FE-05732F90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67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BAE6B0-E5CF-45CA-9958-13E43764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10150"/>
            <a:ext cx="514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344D"/>
                </a:solidFill>
              </a:defRPr>
            </a:pPr>
            <a:r>
              <a:rPr sz="1500" b="0">
                <a:solidFill>
                  <a:srgbClr val="21344D"/>
                </a:solidFill>
              </a:rPr>
              <a:t>通过解释因素与画像维度增强可信度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C0BF4F-9635-413E-A33B-14F40459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770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738C"/>
                </a:solidFill>
              </a:defRPr>
            </a:pPr>
            <a:r>
              <a:rPr sz="900" b="0">
                <a:solidFill>
                  <a:srgbClr val="5F738C"/>
                </a:solidFill>
              </a:rPr>
              <a:t>9 / 20</a:t>
            </a:r>
          </a:p>
        </p:txBody>
      </p:sp>
    </p:spTree>
    <p:extLst>
      <p:ext uri="{BB962C8B-B14F-4D97-AF65-F5344CB8AC3E}">
        <p14:creationId xmlns:p14="http://schemas.microsoft.com/office/powerpoint/2010/main" val="10816108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F170C6A-CA8C-48A1-A05A-0C25F58A2B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398D16-F89B-4D5F-A17A-3D6789DE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381000"/>
            <a:ext cx="2667000" cy="266700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44EDEF-D6D7-49CB-A52F-726E1187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"/>
            <a:ext cx="1524000" cy="152400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87AFDD-F32A-493C-9BA9-46ECF9E20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F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43B370-A37E-4C8A-A180-4C5D24E77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FF"/>
                </a:solidFill>
              </a:defRPr>
            </a:pPr>
            <a:r>
              <a:rPr sz="1350" b="1">
                <a:solidFill>
                  <a:srgbClr val="1677FF"/>
                </a:solidFill>
              </a:rPr>
              <a:t>知行雷达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F7D8AD-653A-43E1-86FC-E51B4989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144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738C"/>
                </a:solidFill>
              </a:defRPr>
            </a:pPr>
            <a:r>
              <a:rPr sz="1350" b="1">
                <a:solidFill>
                  <a:srgbClr val="5F738C"/>
                </a:solidFill>
              </a:rPr>
              <a:t>多任务预测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F4E234-B072-4379-B51F-D9161CE7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33D"/>
                </a:solidFill>
              </a:defRPr>
            </a:pPr>
            <a:r>
              <a:rPr sz="2325" b="1">
                <a:solidFill>
                  <a:srgbClr val="10233D"/>
                </a:solidFill>
              </a:rPr>
              <a:t>扩展预测模块：从风险识别走向成长预测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51FFB9-F18A-4F5F-8EDE-55FC4306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C"/>
                </a:solidFill>
              </a:defRPr>
            </a:pPr>
            <a:r>
              <a:rPr sz="1200" b="0">
                <a:solidFill>
                  <a:srgbClr val="5F738C"/>
                </a:solidFill>
              </a:rPr>
              <a:t>围绕奖学金、英语、成绩、健康、趋势、学习投入和综合发展形成多模型体系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F0BE78-9A90-4FC5-9EB9-F09A3FE8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742950"/>
            <a:ext cx="1428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E1EE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5301A8-4AAA-4B09-9D6D-E95ADD8C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191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学生成长分析平台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9B9672-60EA-494F-9E99-71FA47B9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4953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E0ECF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BB6CEE-E33D-458D-8682-8C427D212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051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E639B1-4C56-4803-B5B3-8EF560FB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38450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465F42-6CBA-4B70-AD90-59F5E267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432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奖学金概率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1C6FFA-07B7-46F9-AB61-35D1FDB0B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19450"/>
            <a:ext cx="4343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C"/>
                </a:solidFill>
              </a:defRPr>
            </a:pPr>
            <a:r>
              <a:rPr sz="1200" b="0">
                <a:solidFill>
                  <a:srgbClr val="5F738C"/>
                </a:solidFill>
              </a:rPr>
              <a:t>辅助识别成长机会与高表现学生。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713B94-AF95-45B3-B450-2196A573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76500"/>
            <a:ext cx="4953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DF9FF"/>
          </a:solidFill>
          <a:ln xmlns:a="http://schemas.openxmlformats.org/drawingml/2006/main" w="9525">
            <a:solidFill>
              <a:srgbClr val="E0ECF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25180C-2E60-4416-BFFF-38893C52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051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40BDF7"/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05F842-B167-4A23-B8B4-6F7638D6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38450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CF8ED0-421A-4DDD-AB36-19B4A40D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432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英语四级/六级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B771CC-52DC-4CE6-871D-EDCC9A6A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19450"/>
            <a:ext cx="4343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C"/>
                </a:solidFill>
              </a:defRPr>
            </a:pPr>
            <a:r>
              <a:rPr sz="1200" b="0">
                <a:solidFill>
                  <a:srgbClr val="5F738C"/>
                </a:solidFill>
              </a:rPr>
              <a:t>四级 AUC≈0.86，六级 AUC≈0.99。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F2521B-6AD4-4D5E-B092-260708694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4953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EFDF6"/>
          </a:solidFill>
          <a:ln xmlns:a="http://schemas.openxmlformats.org/drawingml/2006/main" w="9525">
            <a:solidFill>
              <a:srgbClr val="E0ECF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B1DBB7-82D1-48D8-9DDA-FEC172E36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243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2B07D"/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D60CC3-27BC-48FB-9293-D69FA48E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57700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C64837-CD1D-4131-BC19-CD4FE6E3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624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健康分类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C3E8EB-3E69-4DB3-8980-5D7253C0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38700"/>
            <a:ext cx="4343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C"/>
                </a:solidFill>
              </a:defRPr>
            </a:pPr>
            <a:r>
              <a:rPr sz="1200" b="0">
                <a:solidFill>
                  <a:srgbClr val="5F738C"/>
                </a:solidFill>
              </a:rPr>
              <a:t>Macro F1≈0.75，避免指标虚高。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8150F2-77B3-4B31-8440-7949C04D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095750"/>
            <a:ext cx="4953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F4FF"/>
          </a:solidFill>
          <a:ln xmlns:a="http://schemas.openxmlformats.org/drawingml/2006/main" w="9525">
            <a:solidFill>
              <a:srgbClr val="E0ECF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84E929-3F1F-4B62-8E01-2AB592D3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243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6E7BFF"/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6575D7-68B5-473B-B6BF-3E7C7C3D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57700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C9B36C-2802-49CF-B4A1-2C135978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624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学习投入分类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3E152A-E0B2-4D1B-AE21-C60C27F3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38700"/>
            <a:ext cx="4343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C"/>
                </a:solidFill>
              </a:defRPr>
            </a:pPr>
            <a:r>
              <a:rPr sz="1200" b="0">
                <a:solidFill>
                  <a:srgbClr val="5F738C"/>
                </a:solidFill>
              </a:rPr>
              <a:t>Macro F1≈0.92，支持投入档次判断。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349943-2ED1-4060-8DAC-40CCB264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0"/>
            <a:ext cx="4953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0ECF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630CF6-0F3C-434F-9802-CAC071A1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9436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A423"/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EA1812-F0AF-4CD5-B1DC-37AE6B8C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076950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发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BA1238-8F03-46D0-A74B-BA72785F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9817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综合发展分类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6C55C6-7DAE-4645-90C6-E57496B4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57950"/>
            <a:ext cx="4343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C"/>
                </a:solidFill>
              </a:defRPr>
            </a:pPr>
            <a:r>
              <a:rPr sz="1200" b="0">
                <a:solidFill>
                  <a:srgbClr val="5F738C"/>
                </a:solidFill>
              </a:rPr>
              <a:t>Macro F1≈0.90，反映成长潜能。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3CCA06-E90E-4990-A9E7-323DF5128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715000"/>
            <a:ext cx="4953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E0ECFA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DE91FB-B4AF-4D5D-A6B8-F1FC0931D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9436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10EA81-67BC-4C59-87F0-86745EF9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6076950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变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2F3778F-CAFE-4070-A9A8-6652B086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9817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变化趋势预测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63B9517-EDA3-40B8-AD77-816F1446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457950"/>
            <a:ext cx="4343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C"/>
                </a:solidFill>
              </a:defRPr>
            </a:pPr>
            <a:r>
              <a:rPr sz="1200" b="0">
                <a:solidFill>
                  <a:srgbClr val="5F738C"/>
                </a:solidFill>
              </a:rPr>
              <a:t>用于观察状态变化与后续提醒。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65DFA85-79F0-4BF0-89BC-AFF1E813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770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738C"/>
                </a:solidFill>
              </a:defRPr>
            </a:pPr>
            <a:r>
              <a:rPr sz="900" b="0">
                <a:solidFill>
                  <a:srgbClr val="5F738C"/>
                </a:solidFill>
              </a:rPr>
              <a:t>10 / 20</a:t>
            </a:r>
          </a:p>
        </p:txBody>
      </p:sp>
    </p:spTree>
    <p:extLst>
      <p:ext uri="{BB962C8B-B14F-4D97-AF65-F5344CB8AC3E}">
        <p14:creationId xmlns:p14="http://schemas.microsoft.com/office/powerpoint/2010/main" val="2327664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F170C6A-CA8C-48A1-A05A-0C25F58A2B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3F4043-06CC-4C21-BA39-97E895CC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381000"/>
            <a:ext cx="2667000" cy="266700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430C8D-D67F-4CFB-A9DD-6BBC2C14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"/>
            <a:ext cx="1524000" cy="152400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241503-DA8D-4D88-BE88-5709F928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F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810B99-F4D2-4A88-B2EF-07287426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FF"/>
                </a:solidFill>
              </a:defRPr>
            </a:pPr>
            <a:r>
              <a:rPr sz="1350" b="1">
                <a:solidFill>
                  <a:srgbClr val="1677FF"/>
                </a:solidFill>
              </a:rPr>
              <a:t>知行雷达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FF6A85-C27B-4E99-8517-8B19EF69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144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738C"/>
                </a:solidFill>
              </a:defRPr>
            </a:pPr>
            <a:r>
              <a:rPr sz="1350" b="1">
                <a:solidFill>
                  <a:srgbClr val="5F738C"/>
                </a:solidFill>
              </a:rPr>
              <a:t>可解释性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547D48-CC30-4CEE-B4E4-1FFB62B6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33D"/>
                </a:solidFill>
              </a:defRPr>
            </a:pPr>
            <a:r>
              <a:rPr sz="2325" b="1">
                <a:solidFill>
                  <a:srgbClr val="10233D"/>
                </a:solidFill>
              </a:rPr>
              <a:t>结果不只是一串分数，而是一套解释与建议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D46696-281F-477E-A30F-D5FCF42E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C"/>
                </a:solidFill>
              </a:defRPr>
            </a:pPr>
            <a:r>
              <a:rPr sz="1200" b="0">
                <a:solidFill>
                  <a:srgbClr val="5F738C"/>
                </a:solidFill>
              </a:rPr>
              <a:t>系统从关键特征、画像结论、预测解释和干预建议四个层次给出依据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A07CDB-C3B1-4DAD-AE04-E5AD180A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742950"/>
            <a:ext cx="1428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E1EE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C744EB-B0CB-48B5-9BC5-FC281EC7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191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学生成长分析平台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B3EFAD-81F5-444E-800A-02AF1DAB8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62200"/>
            <a:ext cx="4476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E0ECF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206E7B-8E5F-4B17-B3EB-24135550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3365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关键影响因素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B18A3D-7526-4B5A-9877-BE77E2F8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57500"/>
            <a:ext cx="381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C"/>
                </a:solidFill>
              </a:defRPr>
            </a:pPr>
            <a:r>
              <a:rPr sz="1200" b="0">
                <a:solidFill>
                  <a:srgbClr val="5F738C"/>
                </a:solidFill>
              </a:rPr>
              <a:t>展示对单学生结果影响较大的特征项。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6A47C0-C20F-45F8-B21A-B654D027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533650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4729EA-F3B2-465A-BA21-861A5B84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714625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B487BA-165A-4C4D-B910-6C56644F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19500"/>
            <a:ext cx="4476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DF9FF"/>
          </a:solidFill>
          <a:ln xmlns:a="http://schemas.openxmlformats.org/drawingml/2006/main" w="9525">
            <a:solidFill>
              <a:srgbClr val="E0ECF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58541A-0533-4085-9C6C-A2E482910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9095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画像说明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81410A-B305-4473-9B9B-72F9312B5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14800"/>
            <a:ext cx="381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C"/>
                </a:solidFill>
              </a:defRPr>
            </a:pPr>
            <a:r>
              <a:rPr sz="1200" b="0">
                <a:solidFill>
                  <a:srgbClr val="5F738C"/>
                </a:solidFill>
              </a:rPr>
              <a:t>解释主画像、细分子类及其对应含义。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1DB8E1-73AA-465A-A344-3C789FDA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790950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40BDF7"/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C064ED-4C12-4919-8EAF-4F84E138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971925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78515A-95F8-414B-AAA0-8DC937EA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76800"/>
            <a:ext cx="4476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EFDF6"/>
          </a:solidFill>
          <a:ln xmlns:a="http://schemas.openxmlformats.org/drawingml/2006/main" w="9525">
            <a:solidFill>
              <a:srgbClr val="E0ECF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64FF14-9626-47DC-9264-BB89FA3C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04825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干预建议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7D0661-EDA5-40DB-AC56-974DF67B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372100"/>
            <a:ext cx="381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C"/>
                </a:solidFill>
              </a:defRPr>
            </a:pPr>
            <a:r>
              <a:rPr sz="1200" b="0">
                <a:solidFill>
                  <a:srgbClr val="5F738C"/>
                </a:solidFill>
              </a:rPr>
              <a:t>面向学生与管理人员提供后续行动方向。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AFBC8E-1C36-4F77-97D3-EDBDE9724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048250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2B07D"/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45AA8C-E5A9-4CDB-9D88-A9E8AAC9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229225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策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BDE0A8-CB31-40E2-A99A-CE7C814E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112DAA-17A5-4331-8516-0C8645CE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575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344D"/>
                </a:solidFill>
              </a:defRPr>
            </a:pPr>
            <a:r>
              <a:rPr sz="1500" b="0">
                <a:solidFill>
                  <a:srgbClr val="21344D"/>
                </a:solidFill>
              </a:rPr>
              <a:t>满足赛题要求的多维解释能力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802C50-93A3-4C01-97AC-9B6ADC9B1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56D5CC-4318-4744-9B55-464EF9FA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337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344D"/>
                </a:solidFill>
              </a:defRPr>
            </a:pPr>
            <a:r>
              <a:rPr sz="1500" b="0">
                <a:solidFill>
                  <a:srgbClr val="21344D"/>
                </a:solidFill>
              </a:rPr>
              <a:t>支持管理端与学生端同时展示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29E6B8-3B99-4D8B-B34E-8B11A7CF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67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EBE797-2838-44F4-86A4-41FAA9E5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100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344D"/>
                </a:solidFill>
              </a:defRPr>
            </a:pPr>
            <a:r>
              <a:rPr sz="1500" b="0">
                <a:solidFill>
                  <a:srgbClr val="21344D"/>
                </a:solidFill>
              </a:rPr>
              <a:t>便于答辩讲解，也更接近真实业务应用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844D86-D8E3-4D40-918E-A3E02BE9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770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738C"/>
                </a:solidFill>
              </a:defRPr>
            </a:pPr>
            <a:r>
              <a:rPr sz="900" b="0">
                <a:solidFill>
                  <a:srgbClr val="5F738C"/>
                </a:solidFill>
              </a:rPr>
              <a:t>11 / 20</a:t>
            </a:r>
          </a:p>
        </p:txBody>
      </p:sp>
    </p:spTree>
    <p:extLst>
      <p:ext uri="{BB962C8B-B14F-4D97-AF65-F5344CB8AC3E}">
        <p14:creationId xmlns:p14="http://schemas.microsoft.com/office/powerpoint/2010/main" val="160328118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F170C6A-CA8C-48A1-A05A-0C25F58A2B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2BF4B2-D1B6-4CB6-AAD4-16CD4D37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381000"/>
            <a:ext cx="2667000" cy="266700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FF4B82-0D4C-4804-84A8-37F9B7E7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"/>
            <a:ext cx="1524000" cy="152400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EEB9F3-8CDC-4CB8-BCED-FB14F3F9A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F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1380F7-BAA2-4A05-986D-CFAD34F9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FF"/>
                </a:solidFill>
              </a:defRPr>
            </a:pPr>
            <a:r>
              <a:rPr sz="1350" b="1">
                <a:solidFill>
                  <a:srgbClr val="1677FF"/>
                </a:solidFill>
              </a:rPr>
              <a:t>知行雷达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30DADF-3E0C-481A-B3F5-873671D9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144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738C"/>
                </a:solidFill>
              </a:defRPr>
            </a:pPr>
            <a:r>
              <a:rPr sz="1350" b="1">
                <a:solidFill>
                  <a:srgbClr val="5F738C"/>
                </a:solidFill>
              </a:rPr>
              <a:t>成果展示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9CD3F1-9BCF-4A5C-B6E9-EFC4FF05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33D"/>
                </a:solidFill>
              </a:defRPr>
            </a:pPr>
            <a:r>
              <a:rPr sz="2325" b="1">
                <a:solidFill>
                  <a:srgbClr val="10233D"/>
                </a:solidFill>
              </a:rPr>
              <a:t>8 张全样本分析图构成系统级证据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52303F-DE95-4FB0-B409-EDA4723F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C"/>
                </a:solidFill>
              </a:defRPr>
            </a:pPr>
            <a:r>
              <a:rPr sz="1200" b="0">
                <a:solidFill>
                  <a:srgbClr val="5F738C"/>
                </a:solidFill>
              </a:rPr>
              <a:t>从数据分布、群体差异、结构特征和重要关联四类角度展示全样本成果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D4EDD7-CC6F-485E-9415-080F135E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742950"/>
            <a:ext cx="1428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E1EE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81C409-A4B7-4FD9-A87D-BFA1BF31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191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学生成长分析平台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E76D0D-E58D-42DC-BEC2-8AEDDFB2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476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E0ECF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7731A2-7028-4E9D-9561-04E25DB5F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738C"/>
                </a:solidFill>
              </a:defRPr>
            </a:pPr>
            <a:r>
              <a:rPr sz="1200" b="1">
                <a:solidFill>
                  <a:srgbClr val="5F738C"/>
                </a:solidFill>
              </a:rPr>
              <a:t>图表数量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C3EF4D-2F5F-45C0-8015-5C84BB45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718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D"/>
                </a:solidFill>
              </a:defRPr>
            </a:pPr>
            <a:r>
              <a:rPr sz="2250" b="1">
                <a:solidFill>
                  <a:srgbClr val="10233D"/>
                </a:solidFill>
              </a:rPr>
              <a:t>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0CD5D2-E1E5-4BAB-9D3A-3760B9C8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718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738C"/>
                </a:solidFill>
              </a:defRPr>
            </a:pPr>
            <a:r>
              <a:rPr sz="975" b="0">
                <a:solidFill>
                  <a:srgbClr val="5F738C"/>
                </a:solidFill>
              </a:rPr>
              <a:t>满足赛题要求区间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206E1D-732B-460E-A81D-E4F6FC36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81250"/>
            <a:ext cx="2476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DF9FF"/>
          </a:solidFill>
          <a:ln xmlns:a="http://schemas.openxmlformats.org/drawingml/2006/main" w="9525">
            <a:solidFill>
              <a:srgbClr val="E0ECF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151045-46AB-4A41-BB08-50725EFE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6098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738C"/>
                </a:solidFill>
              </a:defRPr>
            </a:pPr>
            <a:r>
              <a:rPr sz="1200" b="1">
                <a:solidFill>
                  <a:srgbClr val="5F738C"/>
                </a:solidFill>
              </a:rPr>
              <a:t>展示方式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DBBE4F-D240-43F4-9D9D-B95E3400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718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D"/>
                </a:solidFill>
              </a:defRPr>
            </a:pPr>
            <a:r>
              <a:rPr sz="2250" b="1">
                <a:solidFill>
                  <a:srgbClr val="10233D"/>
                </a:solidFill>
              </a:rPr>
              <a:t>点图解读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64588C-A3BF-4D89-835A-750EAFFF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3718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738C"/>
                </a:solidFill>
              </a:defRPr>
            </a:pPr>
            <a:r>
              <a:rPr sz="975" b="0">
                <a:solidFill>
                  <a:srgbClr val="5F738C"/>
                </a:solidFill>
              </a:rPr>
              <a:t>图卡 + 抽屉解释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4C9DED-643B-41C8-AAE7-C1F555E7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2476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EFDF6"/>
          </a:solidFill>
          <a:ln xmlns:a="http://schemas.openxmlformats.org/drawingml/2006/main" w="9525">
            <a:solidFill>
              <a:srgbClr val="E0ECF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3CB5D1-DD09-4A38-89F7-DF5BA0C7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098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738C"/>
                </a:solidFill>
              </a:defRPr>
            </a:pPr>
            <a:r>
              <a:rPr sz="1200" b="1">
                <a:solidFill>
                  <a:srgbClr val="5F738C"/>
                </a:solidFill>
              </a:rPr>
              <a:t>跨端能力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F9DD96-8701-4FB8-8AE5-BD0D39D0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718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D"/>
                </a:solidFill>
              </a:defRPr>
            </a:pPr>
            <a:r>
              <a:rPr sz="2250" b="1">
                <a:solidFill>
                  <a:srgbClr val="10233D"/>
                </a:solidFill>
              </a:rPr>
              <a:t>Web/安卓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127249-6746-4B38-9B7F-2E1FEFB8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718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738C"/>
                </a:solidFill>
              </a:defRPr>
            </a:pPr>
            <a:r>
              <a:rPr sz="975" b="0">
                <a:solidFill>
                  <a:srgbClr val="5F738C"/>
                </a:solidFill>
              </a:rPr>
              <a:t>两端均支持查看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7F55FA-015D-4426-AEEF-AED7EF37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81250"/>
            <a:ext cx="2476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3F4FF"/>
          </a:solidFill>
          <a:ln xmlns:a="http://schemas.openxmlformats.org/drawingml/2006/main" w="9525">
            <a:solidFill>
              <a:srgbClr val="E0ECF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DA459B-C51B-41A9-94FE-5FB285A9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6098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738C"/>
                </a:solidFill>
              </a:defRPr>
            </a:pPr>
            <a:r>
              <a:rPr sz="1200" b="1">
                <a:solidFill>
                  <a:srgbClr val="5F738C"/>
                </a:solidFill>
              </a:rPr>
              <a:t>分析维度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CF7647-45AD-477F-ACDE-F5F88777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9718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D"/>
                </a:solidFill>
              </a:defRPr>
            </a:pPr>
            <a:r>
              <a:rPr sz="2250" b="1">
                <a:solidFill>
                  <a:srgbClr val="10233D"/>
                </a:solidFill>
              </a:rPr>
              <a:t>多维度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B79227-D7E9-4E51-B79D-EFF79153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3718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738C"/>
                </a:solidFill>
              </a:defRPr>
            </a:pPr>
            <a:r>
              <a:rPr sz="975" b="0">
                <a:solidFill>
                  <a:srgbClr val="5F738C"/>
                </a:solidFill>
              </a:rPr>
              <a:t>风险、画像、行为、资源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89FC0E-6CD0-4246-8562-40E6B2C9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A423"/>
          </a:solidFill>
          <a:ln xmlns:a="http://schemas.openxmlformats.org/drawingml/2006/main" w="9525">
            <a:solidFill>
              <a:srgbClr val="F4A423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C1FE77-8BC4-4BF5-B94F-B7905225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95750"/>
            <a:ext cx="514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344D"/>
                </a:solidFill>
              </a:defRPr>
            </a:pPr>
            <a:r>
              <a:rPr sz="1500" b="0">
                <a:solidFill>
                  <a:srgbClr val="21344D"/>
                </a:solidFill>
              </a:rPr>
              <a:t>支撑群体画像、模式识别和整体趋势判断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6A4149-8E35-4EF0-BCAC-96772CFF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0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A423"/>
          </a:solidFill>
          <a:ln xmlns:a="http://schemas.openxmlformats.org/drawingml/2006/main" w="9525">
            <a:solidFill>
              <a:srgbClr val="F4A423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40EFBC-79F6-47F2-AA82-907641C6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52950"/>
            <a:ext cx="514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344D"/>
                </a:solidFill>
              </a:defRPr>
            </a:pPr>
            <a:r>
              <a:rPr sz="1500" b="0">
                <a:solidFill>
                  <a:srgbClr val="21344D"/>
                </a:solidFill>
              </a:rPr>
              <a:t>帮助老师快速理解图表看点，而不是只看静态图片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E626D0-1CC2-48A9-850D-AD66C158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67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A423"/>
          </a:solidFill>
          <a:ln xmlns:a="http://schemas.openxmlformats.org/drawingml/2006/main" w="9525">
            <a:solidFill>
              <a:srgbClr val="F4A423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F0609F-183F-4CB9-93CA-AEB50C85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10150"/>
            <a:ext cx="514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344D"/>
                </a:solidFill>
              </a:defRPr>
            </a:pPr>
            <a:r>
              <a:rPr sz="1500" b="0">
                <a:solidFill>
                  <a:srgbClr val="21344D"/>
                </a:solidFill>
              </a:rPr>
              <a:t>点击图表可进一步查看横轴、纵轴、用途与系统结论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055F72-D7F8-43A0-8844-3E315944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770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738C"/>
                </a:solidFill>
              </a:defRPr>
            </a:pPr>
            <a:r>
              <a:rPr sz="900" b="0">
                <a:solidFill>
                  <a:srgbClr val="5F738C"/>
                </a:solidFill>
              </a:rPr>
              <a:t>12 / 20</a:t>
            </a:r>
          </a:p>
        </p:txBody>
      </p:sp>
    </p:spTree>
    <p:extLst>
      <p:ext uri="{BB962C8B-B14F-4D97-AF65-F5344CB8AC3E}">
        <p14:creationId xmlns:p14="http://schemas.microsoft.com/office/powerpoint/2010/main" val="136543130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F170C6A-CA8C-48A1-A05A-0C25F58A2B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8B5161-2C0B-4381-9666-4387B577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381000"/>
            <a:ext cx="2667000" cy="266700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82F0F7-E048-4886-9A3E-8F3581B8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"/>
            <a:ext cx="1524000" cy="152400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0C6EB9-B746-4207-A6BC-E4CF3F04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F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70996F-514D-409D-B792-336B768C1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FF"/>
                </a:solidFill>
              </a:defRPr>
            </a:pPr>
            <a:r>
              <a:rPr sz="1350" b="1">
                <a:solidFill>
                  <a:srgbClr val="1677FF"/>
                </a:solidFill>
              </a:rPr>
              <a:t>知行雷达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9F6BB9-A4CD-4C40-835C-D1E094FA9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144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738C"/>
                </a:solidFill>
              </a:defRPr>
            </a:pPr>
            <a:r>
              <a:rPr sz="1350" b="1">
                <a:solidFill>
                  <a:srgbClr val="5F738C"/>
                </a:solidFill>
              </a:rPr>
              <a:t>管理端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BE241A-1C33-48CC-A0B2-5CC3F2BF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33D"/>
                </a:solidFill>
              </a:defRPr>
            </a:pPr>
            <a:r>
              <a:rPr sz="2325" b="1">
                <a:solidFill>
                  <a:srgbClr val="10233D"/>
                </a:solidFill>
              </a:rPr>
              <a:t>Web 管理端：从总览到单学生详情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6F1A1A-87E9-4BE2-883B-2FAB46A1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C"/>
                </a:solidFill>
              </a:defRPr>
            </a:pPr>
            <a:r>
              <a:rPr sz="1200" b="0">
                <a:solidFill>
                  <a:srgbClr val="5F738C"/>
                </a:solidFill>
              </a:rPr>
              <a:t>面向学校、学院和辅导员使用，突出“全局看板 + 重点名单 + 深度报告”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3D0A04-1980-430F-AD41-7034F11F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742950"/>
            <a:ext cx="1428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E1EE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F0ABBA-6A2A-46CD-A7C0-497D8FD5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191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学生成长分析平台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CDD0A7-C405-40BC-9D7E-D97F51FE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4953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E0ECF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4C567D-97D2-4593-B320-A8F5FFF5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051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F460A4-4CBE-4F01-8257-A6C305D6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38450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3D1BCD-C84E-40DE-BD2F-CB07A9036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432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总览大屏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E318CB-3C8B-40B5-AE97-454DF350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19450"/>
            <a:ext cx="4343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C"/>
                </a:solidFill>
              </a:defRPr>
            </a:pPr>
            <a:r>
              <a:rPr sz="1200" b="0">
                <a:solidFill>
                  <a:srgbClr val="5F738C"/>
                </a:solidFill>
              </a:rPr>
              <a:t>展示样本量、风险分布、注册覆盖和重点学生。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467E03-C999-46A8-B6F4-2D954B8AC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76500"/>
            <a:ext cx="4953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0ECF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E1FE92-ED1B-4FB7-88DD-233A4A24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051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A423"/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4DEB65-7A34-4B8B-BA0A-C0A0D912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38450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B8B0FB-9123-4C26-A46F-63514197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432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风险名单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237326-A918-403A-B538-AF876012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19450"/>
            <a:ext cx="4343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C"/>
                </a:solidFill>
              </a:defRPr>
            </a:pPr>
            <a:r>
              <a:rPr sz="1200" b="0">
                <a:solidFill>
                  <a:srgbClr val="5F738C"/>
                </a:solidFill>
              </a:rPr>
              <a:t>查看重点学生并进入详情与完整报告。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557224-16E0-4E77-A0CA-1CDFC6DB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4953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DF9FF"/>
          </a:solidFill>
          <a:ln xmlns:a="http://schemas.openxmlformats.org/drawingml/2006/main" w="9525">
            <a:solidFill>
              <a:srgbClr val="E0ECF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D3117F-32D4-47EC-8A14-F06FA31EE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243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40BDF7"/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0FF940-8658-491F-9FD2-E2A827252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57700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EFCD26-6047-4830-BE5E-0C5C6F13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624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院系对比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D8432A-9BC6-49A1-9BDB-F0F5E327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38700"/>
            <a:ext cx="4343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C"/>
                </a:solidFill>
              </a:defRPr>
            </a:pPr>
            <a:r>
              <a:rPr sz="1200" b="0">
                <a:solidFill>
                  <a:srgbClr val="5F738C"/>
                </a:solidFill>
              </a:rPr>
              <a:t>比较学院风险率、主导画像与细分解释。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E1D42E-F307-48D6-BFF0-382E6FEF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095750"/>
            <a:ext cx="4953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EFDF6"/>
          </a:solidFill>
          <a:ln xmlns:a="http://schemas.openxmlformats.org/drawingml/2006/main" w="9525">
            <a:solidFill>
              <a:srgbClr val="E0ECF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2C67E8-67E2-493D-8DCC-A4C9A677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243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2B07D"/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022EE3-430A-4A4C-91B6-898B61A1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57700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C73CE6-C31C-4B39-A4EB-F8A8BD4C0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624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预测模块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1A69E7-B5BE-4621-880F-8AFD74F4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38700"/>
            <a:ext cx="4343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C"/>
                </a:solidFill>
              </a:defRPr>
            </a:pPr>
            <a:r>
              <a:rPr sz="1200" b="0">
                <a:solidFill>
                  <a:srgbClr val="5F738C"/>
                </a:solidFill>
              </a:rPr>
              <a:t>集中查看各模型指标与单学生预测结果。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32027D-82D7-475B-8233-431B35AC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0"/>
            <a:ext cx="4953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F4FF"/>
          </a:solidFill>
          <a:ln xmlns:a="http://schemas.openxmlformats.org/drawingml/2006/main" w="9525">
            <a:solidFill>
              <a:srgbClr val="E0ECF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B64B9F-91BD-469D-8BC2-E8B633FD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9436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6E7BFF"/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538112-F328-4A2E-B163-761F5629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076950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图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04B5601-84F3-4194-AB81-3691E109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9817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分析成果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5125779-FFFA-45E3-88E7-882DBD94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57950"/>
            <a:ext cx="4343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C"/>
                </a:solidFill>
              </a:defRPr>
            </a:pPr>
            <a:r>
              <a:rPr sz="1200" b="0">
                <a:solidFill>
                  <a:srgbClr val="5F738C"/>
                </a:solidFill>
              </a:rPr>
              <a:t>查看8张图及图表说明。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B73FAA-F7CF-4CCE-805D-9C2BAD2D7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715000"/>
            <a:ext cx="4953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E0ECFA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1A91809-156C-4051-995C-494C44A0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9436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71C6054-B7B8-4850-B7FE-9D39BCC0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6076950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报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9704546-298E-4105-9215-BDB324A1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9817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完整报告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804D290-8D3C-4660-98EA-FACEA924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457950"/>
            <a:ext cx="4343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C"/>
                </a:solidFill>
              </a:defRPr>
            </a:pPr>
            <a:r>
              <a:rPr sz="1200" b="0">
                <a:solidFill>
                  <a:srgbClr val="5F738C"/>
                </a:solidFill>
              </a:rPr>
              <a:t>展示结构化结论、解释、建议与重点特征。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60C1E41-690A-40BC-9AAA-49BC9EFC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770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738C"/>
                </a:solidFill>
              </a:defRPr>
            </a:pPr>
            <a:r>
              <a:rPr sz="900" b="0">
                <a:solidFill>
                  <a:srgbClr val="5F738C"/>
                </a:solidFill>
              </a:rPr>
              <a:t>13 / 20</a:t>
            </a:r>
          </a:p>
        </p:txBody>
      </p:sp>
    </p:spTree>
    <p:extLst>
      <p:ext uri="{BB962C8B-B14F-4D97-AF65-F5344CB8AC3E}">
        <p14:creationId xmlns:p14="http://schemas.microsoft.com/office/powerpoint/2010/main" val="83132070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3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F170C6A-CA8C-48A1-A05A-0C25F58A2B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11EDE0-436C-467A-9835-E1847F07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381000"/>
            <a:ext cx="2667000" cy="266700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E5DF5E-4DB0-4354-B1A8-90A97935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"/>
            <a:ext cx="1524000" cy="152400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9452C9-BB2C-467D-AF60-B5079C68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F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C9E8DE-7DB1-461C-86CA-863AF546E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FF"/>
                </a:solidFill>
              </a:defRPr>
            </a:pPr>
            <a:r>
              <a:rPr sz="1350" b="1">
                <a:solidFill>
                  <a:srgbClr val="1677FF"/>
                </a:solidFill>
              </a:rPr>
              <a:t>知行雷达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4A38E5-17A9-47E3-AB7B-7244005A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144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738C"/>
                </a:solidFill>
              </a:defRPr>
            </a:pPr>
            <a:r>
              <a:rPr sz="1350" b="1">
                <a:solidFill>
                  <a:srgbClr val="5F738C"/>
                </a:solidFill>
              </a:rPr>
              <a:t>学生端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A5E1DD-B237-4A40-A082-3E9C1CDE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33D"/>
                </a:solidFill>
              </a:defRPr>
            </a:pPr>
            <a:r>
              <a:rPr sz="2325" b="1">
                <a:solidFill>
                  <a:srgbClr val="10233D"/>
                </a:solidFill>
              </a:rPr>
              <a:t>学生端：从“被管理”走向“自助成长”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291B2B-169E-4290-9D62-66C0CE90D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C"/>
                </a:solidFill>
              </a:defRPr>
            </a:pPr>
            <a:r>
              <a:rPr sz="1200" b="0">
                <a:solidFill>
                  <a:srgbClr val="5F738C"/>
                </a:solidFill>
              </a:rPr>
              <a:t>让学生看到自己的画像、报告、预测结果和可执行建议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DB6721-0A27-4EAB-8914-E3D5A927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742950"/>
            <a:ext cx="1428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E1EE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4E6168-B65A-488B-B242-0D533D2C6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191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学生成长分析平台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365832-1BD5-45D7-9928-00EF46B7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4953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E0ECF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413F0E-F6F3-4828-92C0-964F79F3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051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203416-FD5D-4B65-8C6D-E8AEAF49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38450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F5CC30-66E8-4D28-9B3B-CD6B3518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432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我的画像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128C28-EB79-4A7B-858E-930005F5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19450"/>
            <a:ext cx="4343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C"/>
                </a:solidFill>
              </a:defRPr>
            </a:pPr>
            <a:r>
              <a:rPr sz="1200" b="0">
                <a:solidFill>
                  <a:srgbClr val="5F738C"/>
                </a:solidFill>
              </a:rPr>
              <a:t>查看主画像、细分子类、优势与待提升项。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748518-7084-4738-B6CF-02D21254F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76500"/>
            <a:ext cx="4953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DF9FF"/>
          </a:solidFill>
          <a:ln xmlns:a="http://schemas.openxmlformats.org/drawingml/2006/main" w="9525">
            <a:solidFill>
              <a:srgbClr val="E0ECF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905104-FD7B-4A89-95FF-57A258ED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051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40BDF7"/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438DA7-3B21-4CF5-B650-9403B723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38450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1B6D05-2C13-4DFA-91C8-69869CA0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432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在线预测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C159AC-7D56-48D7-85E9-D0E69445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19450"/>
            <a:ext cx="4343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C"/>
                </a:solidFill>
              </a:defRPr>
            </a:pPr>
            <a:r>
              <a:rPr sz="1200" b="0">
                <a:solidFill>
                  <a:srgbClr val="5F738C"/>
                </a:solidFill>
              </a:rPr>
              <a:t>输入关键字段后实时得到多模型结果。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2393C1-1C4C-4CF8-A3AF-960DE14D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4953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EFDF6"/>
          </a:solidFill>
          <a:ln xmlns:a="http://schemas.openxmlformats.org/drawingml/2006/main" w="9525">
            <a:solidFill>
              <a:srgbClr val="E0ECF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EE0AAF-A3CD-4859-B30D-CC4DD5181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243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2B07D"/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C6F102-16AF-444B-B18F-63B66BE1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57700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98BEFF-FA5A-41AD-9BFA-6EC3D816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624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群体对比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F3D6E4-2388-417C-BDE0-D0E8D66F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38700"/>
            <a:ext cx="4343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C"/>
                </a:solidFill>
              </a:defRPr>
            </a:pPr>
            <a:r>
              <a:rPr sz="1200" b="0">
                <a:solidFill>
                  <a:srgbClr val="5F738C"/>
                </a:solidFill>
              </a:rPr>
              <a:t>比较个人与群体均值差异。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C2855D-22BC-4547-982C-420151D7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095750"/>
            <a:ext cx="4953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F4FF"/>
          </a:solidFill>
          <a:ln xmlns:a="http://schemas.openxmlformats.org/drawingml/2006/main" w="9525">
            <a:solidFill>
              <a:srgbClr val="E0ECF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6B9ACC-689C-4E0A-9287-E04D01B2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243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6E7BFF"/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D0ACBC-3CFC-4BB1-9DFE-7EDE45DD0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57700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4A7953-5C9B-4C85-BB0B-76B4C661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624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个性化报告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249E2C-EC37-4194-9FF0-A372539F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38700"/>
            <a:ext cx="4343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C"/>
                </a:solidFill>
              </a:defRPr>
            </a:pPr>
            <a:r>
              <a:rPr sz="1200" b="0">
                <a:solidFill>
                  <a:srgbClr val="5F738C"/>
                </a:solidFill>
              </a:rPr>
              <a:t>集中查看结论、依据和建议。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015DD7-0023-4275-ABCB-BA576B8B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0"/>
            <a:ext cx="4953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0ECF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944F26-BD27-4833-A88B-87F85202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9436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A423"/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128E43-83F1-498D-A9EA-7707928A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076950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图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C651468-B84F-4ADF-BFEE-655A94F2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9817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全样本分析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9BFD05-1AEB-435F-9603-549205C7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57950"/>
            <a:ext cx="4343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C"/>
                </a:solidFill>
              </a:defRPr>
            </a:pPr>
            <a:r>
              <a:rPr sz="1200" b="0">
                <a:solidFill>
                  <a:srgbClr val="5F738C"/>
                </a:solidFill>
              </a:rPr>
              <a:t>以学生视角理解群体分析成果。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8424048-38F3-49C9-8B42-795BF076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715000"/>
            <a:ext cx="4953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E0ECFA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1979E89-81BC-448F-AA08-7FC4CF6F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9436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4F57505-5A09-412E-971E-7BDCCD87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6076950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F0C54D3-0EEC-4E28-B9F9-E3241892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9817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智能助手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A41ABB7-2170-498C-926E-155368A1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457950"/>
            <a:ext cx="4343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C"/>
                </a:solidFill>
              </a:defRPr>
            </a:pPr>
            <a:r>
              <a:rPr sz="1200" b="0">
                <a:solidFill>
                  <a:srgbClr val="5F738C"/>
                </a:solidFill>
              </a:rPr>
              <a:t>围绕画像、风险与系统功能进行问答。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C5833F3-F960-40EC-AA6E-B9169CAA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770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738C"/>
                </a:solidFill>
              </a:defRPr>
            </a:pPr>
            <a:r>
              <a:rPr sz="900" b="0">
                <a:solidFill>
                  <a:srgbClr val="5F738C"/>
                </a:solidFill>
              </a:rPr>
              <a:t>14 / 20</a:t>
            </a:r>
          </a:p>
        </p:txBody>
      </p:sp>
    </p:spTree>
    <p:extLst>
      <p:ext uri="{BB962C8B-B14F-4D97-AF65-F5344CB8AC3E}">
        <p14:creationId xmlns:p14="http://schemas.microsoft.com/office/powerpoint/2010/main" val="148951435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3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F170C6A-CA8C-48A1-A05A-0C25F58A2B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FA64CC-0CA8-4518-AC65-3A007E1F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381000"/>
            <a:ext cx="2667000" cy="266700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15F2A3-056E-4D13-8B65-16DDD64B4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"/>
            <a:ext cx="1524000" cy="152400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A63AFB-A0E3-4070-916F-02375602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F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D1C548-0BCA-4394-BE99-45DB5E3A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FF"/>
                </a:solidFill>
              </a:defRPr>
            </a:pPr>
            <a:r>
              <a:rPr sz="1350" b="1">
                <a:solidFill>
                  <a:srgbClr val="1677FF"/>
                </a:solidFill>
              </a:rPr>
              <a:t>知行雷达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2D9724-2014-4006-AED5-54BDA1F3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144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738C"/>
                </a:solidFill>
              </a:defRPr>
            </a:pPr>
            <a:r>
              <a:rPr sz="1350" b="1">
                <a:solidFill>
                  <a:srgbClr val="5F738C"/>
                </a:solidFill>
              </a:rPr>
              <a:t>移动端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91DF4C-2AD0-4AF7-A473-39606EB9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33D"/>
                </a:solidFill>
              </a:defRPr>
            </a:pPr>
            <a:r>
              <a:rPr sz="2325" b="1">
                <a:solidFill>
                  <a:srgbClr val="10233D"/>
                </a:solidFill>
              </a:rPr>
              <a:t>安卓端同步核心能力，形成移动化展示闭环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5EC293-2A6B-43D5-8B73-22A164AA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C"/>
                </a:solidFill>
              </a:defRPr>
            </a:pPr>
            <a:r>
              <a:rPr sz="1200" b="0">
                <a:solidFill>
                  <a:srgbClr val="5F738C"/>
                </a:solidFill>
              </a:rPr>
              <a:t>学生端与管理端均已同步核心模块，并统一为“知行雷达”品牌风格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B18C8A-89A9-41B0-8D4F-F8EF32DD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742950"/>
            <a:ext cx="1428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E1EE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422DD9-0272-4A64-9C55-643DF4D2A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191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学生成长分析平台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BBBAB2-E802-4D39-BB8B-867C8C69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476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E0ECF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0B7B8A-9E3A-4533-AB34-2A7B2AF5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738C"/>
                </a:solidFill>
              </a:defRPr>
            </a:pPr>
            <a:r>
              <a:rPr sz="1200" b="1">
                <a:solidFill>
                  <a:srgbClr val="5F738C"/>
                </a:solidFill>
              </a:rPr>
              <a:t>移动学生端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2B3D8C-A4F2-4405-83E5-F43746EE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718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D"/>
                </a:solidFill>
              </a:defRPr>
            </a:pPr>
            <a:r>
              <a:rPr sz="2250" b="1">
                <a:solidFill>
                  <a:srgbClr val="10233D"/>
                </a:solidFill>
              </a:rPr>
              <a:t>已同步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5D56BE-D5FF-430F-AF19-AB7C918A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718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738C"/>
                </a:solidFill>
              </a:defRPr>
            </a:pPr>
            <a:r>
              <a:rPr sz="975" b="0">
                <a:solidFill>
                  <a:srgbClr val="5F738C"/>
                </a:solidFill>
              </a:rPr>
              <a:t>画像 / 预测 / 报告 / 智能助手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B8A0CA-0199-4F39-AE1D-84847B23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81250"/>
            <a:ext cx="2476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DF9FF"/>
          </a:solidFill>
          <a:ln xmlns:a="http://schemas.openxmlformats.org/drawingml/2006/main" w="9525">
            <a:solidFill>
              <a:srgbClr val="E0ECF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A41748-CD41-48AE-862D-9F95F35A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6098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738C"/>
                </a:solidFill>
              </a:defRPr>
            </a:pPr>
            <a:r>
              <a:rPr sz="1200" b="1">
                <a:solidFill>
                  <a:srgbClr val="5F738C"/>
                </a:solidFill>
              </a:rPr>
              <a:t>移动管理端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65F6D7-467F-4519-9EA3-63627606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718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D"/>
                </a:solidFill>
              </a:defRPr>
            </a:pPr>
            <a:r>
              <a:rPr sz="2250" b="1">
                <a:solidFill>
                  <a:srgbClr val="10233D"/>
                </a:solidFill>
              </a:rPr>
              <a:t>已同步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87083D-A199-4DDB-AB1C-BF335487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3718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738C"/>
                </a:solidFill>
              </a:defRPr>
            </a:pPr>
            <a:r>
              <a:rPr sz="975" b="0">
                <a:solidFill>
                  <a:srgbClr val="5F738C"/>
                </a:solidFill>
              </a:rPr>
              <a:t>总览 / 名单 / 对比 / 分析成果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B4E351-8182-409D-9A09-E8BE47F41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2476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EFDF6"/>
          </a:solidFill>
          <a:ln xmlns:a="http://schemas.openxmlformats.org/drawingml/2006/main" w="9525">
            <a:solidFill>
              <a:srgbClr val="E0ECF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E5D827-F0FC-4255-A2A7-9FA085765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098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738C"/>
                </a:solidFill>
              </a:defRPr>
            </a:pPr>
            <a:r>
              <a:rPr sz="1200" b="1">
                <a:solidFill>
                  <a:srgbClr val="5F738C"/>
                </a:solidFill>
              </a:rPr>
              <a:t>品牌统一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74B9A5-BC87-49D6-9509-BFBFBC14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718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D"/>
                </a:solidFill>
              </a:defRPr>
            </a:pPr>
            <a:r>
              <a:rPr sz="2250" b="1">
                <a:solidFill>
                  <a:srgbClr val="10233D"/>
                </a:solidFill>
              </a:rPr>
              <a:t>知行雷达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D187C9-153C-4F08-A836-F98B3035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718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738C"/>
                </a:solidFill>
              </a:defRPr>
            </a:pPr>
            <a:r>
              <a:rPr sz="975" b="0">
                <a:solidFill>
                  <a:srgbClr val="5F738C"/>
                </a:solidFill>
              </a:rPr>
              <a:t>图标、名称、导航与主题一致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DA19BF-DDE2-449A-8D74-5150564F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81250"/>
            <a:ext cx="2476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3F4FF"/>
          </a:solidFill>
          <a:ln xmlns:a="http://schemas.openxmlformats.org/drawingml/2006/main" w="9525">
            <a:solidFill>
              <a:srgbClr val="E0ECF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824978-C114-46DC-B262-3C881C1A3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6098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738C"/>
                </a:solidFill>
              </a:defRPr>
            </a:pPr>
            <a:r>
              <a:rPr sz="1200" b="1">
                <a:solidFill>
                  <a:srgbClr val="5F738C"/>
                </a:solidFill>
              </a:rPr>
              <a:t>交互重排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8E4622-EB0E-48EB-A50F-1E9B7538C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9718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D"/>
                </a:solidFill>
              </a:defRPr>
            </a:pPr>
            <a:r>
              <a:rPr sz="2250" b="1">
                <a:solidFill>
                  <a:srgbClr val="10233D"/>
                </a:solidFill>
              </a:rPr>
              <a:t>移动优先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1E6F5E-D10E-49AE-A7E5-C4A9BE56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3718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738C"/>
                </a:solidFill>
              </a:defRPr>
            </a:pPr>
            <a:r>
              <a:rPr sz="975" b="0">
                <a:solidFill>
                  <a:srgbClr val="5F738C"/>
                </a:solidFill>
              </a:rPr>
              <a:t>不是简单缩放 Web 页面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CF53B7-6F98-44D8-887D-BBB3EF28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10287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344D"/>
                </a:solidFill>
              </a:defRPr>
            </a:pPr>
            <a:r>
              <a:rPr sz="1500" b="0">
                <a:solidFill>
                  <a:srgbClr val="21344D"/>
                </a:solidFill>
              </a:rPr>
              <a:t>移动端采用更简约、更科技感的浅蓝白视觉风格，并保留图表查看、详情页、预测页和设置中心。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857816-3F32-412F-B01B-B3A78224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770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738C"/>
                </a:solidFill>
              </a:defRPr>
            </a:pPr>
            <a:r>
              <a:rPr sz="900" b="0">
                <a:solidFill>
                  <a:srgbClr val="5F738C"/>
                </a:solidFill>
              </a:rPr>
              <a:t>15 / 20</a:t>
            </a:r>
          </a:p>
        </p:txBody>
      </p:sp>
    </p:spTree>
    <p:extLst>
      <p:ext uri="{BB962C8B-B14F-4D97-AF65-F5344CB8AC3E}">
        <p14:creationId xmlns:p14="http://schemas.microsoft.com/office/powerpoint/2010/main" val="102096785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3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F170C6A-CA8C-48A1-A05A-0C25F58A2B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77AF28-874E-49E9-8F13-CEADC441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381000"/>
            <a:ext cx="2667000" cy="266700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E37F07-B93E-40CE-92A0-DA64B30F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"/>
            <a:ext cx="1524000" cy="152400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C9FAD9-8968-4685-BC40-34A88B19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F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7DDAF-5F62-4B71-8DF2-320102A2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FF"/>
                </a:solidFill>
              </a:defRPr>
            </a:pPr>
            <a:r>
              <a:rPr sz="1350" b="1">
                <a:solidFill>
                  <a:srgbClr val="1677FF"/>
                </a:solidFill>
              </a:rPr>
              <a:t>知行雷达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869713-7070-43FB-88C9-997B29EBE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144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738C"/>
                </a:solidFill>
              </a:defRPr>
            </a:pPr>
            <a:r>
              <a:rPr sz="1350" b="1">
                <a:solidFill>
                  <a:srgbClr val="5F738C"/>
                </a:solidFill>
              </a:rPr>
              <a:t>智能服务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F63A54-3A88-48D7-BA26-3B9CB7D25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33D"/>
                </a:solidFill>
              </a:defRPr>
            </a:pPr>
            <a:r>
              <a:rPr sz="2325" b="1">
                <a:solidFill>
                  <a:srgbClr val="10233D"/>
                </a:solidFill>
              </a:rPr>
              <a:t>接入千问大模型，构建学生智能助手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FE1E34-9586-49F6-A069-7FFF592D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C"/>
                </a:solidFill>
              </a:defRPr>
            </a:pPr>
            <a:r>
              <a:rPr sz="1200" b="0">
                <a:solidFill>
                  <a:srgbClr val="5F738C"/>
                </a:solidFill>
              </a:rPr>
              <a:t>把静态页面扩展成可对话、可解释、可引导的服务入口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10E752-E2C6-4476-92F0-02EE1429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742950"/>
            <a:ext cx="1428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E1EE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58BEBD-0831-4F95-BFE2-96BBCC84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191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学生成长分析平台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E61C4B-7EC8-4EAE-8594-21C215E9C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62200"/>
            <a:ext cx="4476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E0ECF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676BF3-249F-452B-A263-6DDB55DE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3365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画像问答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2AD091-03D0-4CC4-AB18-32CF4A7A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57500"/>
            <a:ext cx="381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C"/>
                </a:solidFill>
              </a:defRPr>
            </a:pPr>
            <a:r>
              <a:rPr sz="1200" b="0">
                <a:solidFill>
                  <a:srgbClr val="5F738C"/>
                </a:solidFill>
              </a:rPr>
              <a:t>可解释学生画像、细分子类和风险等级。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E8466C-595E-420F-A426-C95A39EC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533650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23C0B6-7A7B-4317-B073-CB2FB2A2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714625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01DE88-56EF-4D79-A427-24A1531A9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19500"/>
            <a:ext cx="4476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DF9FF"/>
          </a:solidFill>
          <a:ln xmlns:a="http://schemas.openxmlformats.org/drawingml/2006/main" w="9525">
            <a:solidFill>
              <a:srgbClr val="E0ECF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F5635A-6799-451B-957D-5C672E18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9095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建议生成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A19770-9904-4D09-B2A9-339BD4CF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14800"/>
            <a:ext cx="381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C"/>
                </a:solidFill>
              </a:defRPr>
            </a:pPr>
            <a:r>
              <a:rPr sz="1200" b="0">
                <a:solidFill>
                  <a:srgbClr val="5F738C"/>
                </a:solidFill>
              </a:rPr>
              <a:t>结合当前账号数据给出学习与提升建议。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3A2B11-45E5-4F09-82D9-DDD5F1B9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790950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40BDF7"/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D61270-46A2-442D-9F90-BC06FA0F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971925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367B80-F2C5-4254-9DC6-E439C5D2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76800"/>
            <a:ext cx="4476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EFDF6"/>
          </a:solidFill>
          <a:ln xmlns:a="http://schemas.openxmlformats.org/drawingml/2006/main" w="9525">
            <a:solidFill>
              <a:srgbClr val="E0ECF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3C4E59-8D7A-4B76-8878-AFC5ABE9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04825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系统导览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4D0195-23CE-4A63-93B3-E63BCB94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372100"/>
            <a:ext cx="381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C"/>
                </a:solidFill>
              </a:defRPr>
            </a:pPr>
            <a:r>
              <a:rPr sz="1200" b="0">
                <a:solidFill>
                  <a:srgbClr val="5F738C"/>
                </a:solidFill>
              </a:rPr>
              <a:t>帮助学生理解各模块功能与使用方式。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486CCB-A1D1-4CD0-B53D-96E35989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048250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2B07D"/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5199FF-9304-4F58-908A-DB729BFF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229225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3346D4-D686-4C89-B334-DA902A7C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BFF"/>
          </a:solidFill>
          <a:ln xmlns:a="http://schemas.openxmlformats.org/drawingml/2006/main" w="9525">
            <a:solidFill>
              <a:srgbClr val="6E7BF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E85FAE-60AE-4BAB-9AB6-86A2C809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575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344D"/>
                </a:solidFill>
              </a:defRPr>
            </a:pPr>
            <a:r>
              <a:rPr sz="1500" b="0">
                <a:solidFill>
                  <a:srgbClr val="21344D"/>
                </a:solidFill>
              </a:rPr>
              <a:t>后端统一封装大模型接口，学生端 Web 与安卓端均可访问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E5B404-AAAB-435D-B199-FC74C207F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BFF"/>
          </a:solidFill>
          <a:ln xmlns:a="http://schemas.openxmlformats.org/drawingml/2006/main" w="9525">
            <a:solidFill>
              <a:srgbClr val="6E7BF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67D945-E371-4DC3-AB7D-966BB667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337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344D"/>
                </a:solidFill>
              </a:defRPr>
            </a:pPr>
            <a:r>
              <a:rPr sz="1500" b="0">
                <a:solidFill>
                  <a:srgbClr val="21344D"/>
                </a:solidFill>
              </a:rPr>
              <a:t>保留会话历史，支持围绕画像与报告连续交流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9E12D7-DB21-476A-AA25-8D2050A9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67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BFF"/>
          </a:solidFill>
          <a:ln xmlns:a="http://schemas.openxmlformats.org/drawingml/2006/main" w="9525">
            <a:solidFill>
              <a:srgbClr val="6E7BF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DFC6D5-AD18-4127-8CE7-E6A5F767B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100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344D"/>
                </a:solidFill>
              </a:defRPr>
            </a:pPr>
            <a:r>
              <a:rPr sz="1500" b="0">
                <a:solidFill>
                  <a:srgbClr val="21344D"/>
                </a:solidFill>
              </a:rPr>
              <a:t>增强系统互动性和答辩展示亮点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683C2D-5488-42D8-B853-1823F0A3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770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738C"/>
                </a:solidFill>
              </a:defRPr>
            </a:pPr>
            <a:r>
              <a:rPr sz="900" b="0">
                <a:solidFill>
                  <a:srgbClr val="5F738C"/>
                </a:solidFill>
              </a:rPr>
              <a:t>16 / 20</a:t>
            </a:r>
          </a:p>
        </p:txBody>
      </p:sp>
    </p:spTree>
    <p:extLst>
      <p:ext uri="{BB962C8B-B14F-4D97-AF65-F5344CB8AC3E}">
        <p14:creationId xmlns:p14="http://schemas.microsoft.com/office/powerpoint/2010/main" val="137681310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3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F170C6A-CA8C-48A1-A05A-0C25F58A2B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63F9B6-F394-4DBB-9291-5E69127C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381000"/>
            <a:ext cx="2667000" cy="266700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A21BA1-F307-44B7-8504-A52EECD3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"/>
            <a:ext cx="1524000" cy="152400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0491A2-9CD3-4DFE-9EC0-216FEB37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F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801106-D27C-4B18-8A0E-016C4042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FF"/>
                </a:solidFill>
              </a:defRPr>
            </a:pPr>
            <a:r>
              <a:rPr sz="1350" b="1">
                <a:solidFill>
                  <a:srgbClr val="1677FF"/>
                </a:solidFill>
              </a:rPr>
              <a:t>知行雷达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1306B7-AF3D-4A65-8FE4-B35945C8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144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738C"/>
                </a:solidFill>
              </a:defRPr>
            </a:pPr>
            <a:r>
              <a:rPr sz="1350" b="1">
                <a:solidFill>
                  <a:srgbClr val="5F738C"/>
                </a:solidFill>
              </a:rPr>
              <a:t>工程问题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991955-54E0-46BB-951D-3A4FBBB5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33D"/>
                </a:solidFill>
              </a:defRPr>
            </a:pPr>
            <a:r>
              <a:rPr sz="2325" b="1">
                <a:solidFill>
                  <a:srgbClr val="10233D"/>
                </a:solidFill>
              </a:rPr>
              <a:t>我们如何解决数据与工程中的真实难点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DE2679-133F-41E1-AACC-6E426C11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C"/>
                </a:solidFill>
              </a:defRPr>
            </a:pPr>
            <a:r>
              <a:rPr sz="1200" b="0">
                <a:solidFill>
                  <a:srgbClr val="5F738C"/>
                </a:solidFill>
              </a:rPr>
              <a:t>不仅实现功能，也系统处理了数据口径、模型指标、账号同步和移动端稳定性问题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1E3D8C-5EF2-49C7-8643-B9FC411C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742950"/>
            <a:ext cx="1428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E1EE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D8F927-7E20-49C0-AE31-7A71E6DA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191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学生成长分析平台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FEDDA3-521B-4FF0-9633-468D736AA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4953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0ECF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245DDC-E234-4AC2-965E-14CA130E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051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A423"/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843E00-D437-405C-96A8-14D31770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38450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41E0DF-957F-4A6B-B670-DD0D4C67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432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缺失值治理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1C2DCA-F384-4307-92A5-B110FB8B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19450"/>
            <a:ext cx="4343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C"/>
                </a:solidFill>
              </a:defRPr>
            </a:pPr>
            <a:r>
              <a:rPr sz="1200" b="0">
                <a:solidFill>
                  <a:srgbClr val="5F738C"/>
                </a:solidFill>
              </a:rPr>
              <a:t>修正把缺失误写成0的问题，并在页面明确标记。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45B097-55BA-449B-A4A1-94666785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76500"/>
            <a:ext cx="4953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E0ECF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A7F3C1-FE01-4495-BA07-D73C834EB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051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D98C7A-048A-48F7-B1D3-8D1C1E00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38450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8A898A-D9DF-435B-B9FB-6B462A35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432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风险口径统一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FC5DB7-AD83-4707-B570-7F3DF93A7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19450"/>
            <a:ext cx="4343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C"/>
                </a:solidFill>
              </a:defRPr>
            </a:pPr>
            <a:r>
              <a:rPr sz="1200" b="0">
                <a:solidFill>
                  <a:srgbClr val="5F738C"/>
                </a:solidFill>
              </a:rPr>
              <a:t>区分风险等级、风险标签与画像类别的含义。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BC639A-F088-4C99-8F2A-030FB737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4953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DF9FF"/>
          </a:solidFill>
          <a:ln xmlns:a="http://schemas.openxmlformats.org/drawingml/2006/main" w="9525">
            <a:solidFill>
              <a:srgbClr val="E0ECF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F2AE2C-6B6D-4866-8AE1-FC6D23110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243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40BDF7"/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13CD3D-9DE7-4B3D-9FB9-7EA78031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57700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4C2B8B-33BF-46AC-A910-B503778C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624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账号同步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A93DB4-6D31-40FE-A9B2-A6E33A98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38700"/>
            <a:ext cx="4343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C"/>
                </a:solidFill>
              </a:defRPr>
            </a:pPr>
            <a:r>
              <a:rPr sz="1200" b="0">
                <a:solidFill>
                  <a:srgbClr val="5F738C"/>
                </a:solidFill>
              </a:rPr>
              <a:t>统一 Web 与移动端数据库路径，保持同一份账号数据。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9ED83E-7815-4486-9B61-3FCA0EA6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095750"/>
            <a:ext cx="4953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EFDF6"/>
          </a:solidFill>
          <a:ln xmlns:a="http://schemas.openxmlformats.org/drawingml/2006/main" w="9525">
            <a:solidFill>
              <a:srgbClr val="E0ECF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FB351C-6BB0-426D-A015-DCAEB3E9B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243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2B07D"/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B24BE3-0123-4E65-BEBC-37C6416D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57700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稳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03B4D3-399C-42FC-B3B4-E9E476A61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624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移动端稳定性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D68C91-5D4C-40E5-B989-E6B80503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38700"/>
            <a:ext cx="4343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C"/>
                </a:solidFill>
              </a:defRPr>
            </a:pPr>
            <a:r>
              <a:rPr sz="1200" b="0">
                <a:solidFill>
                  <a:srgbClr val="5F738C"/>
                </a:solidFill>
              </a:rPr>
              <a:t>重建 pages.json、manifest 与关键页面，解决白屏与乱码。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2878D1-A330-4F3E-8748-7712FF6F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770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738C"/>
                </a:solidFill>
              </a:defRPr>
            </a:pPr>
            <a:r>
              <a:rPr sz="900" b="0">
                <a:solidFill>
                  <a:srgbClr val="5F738C"/>
                </a:solidFill>
              </a:rPr>
              <a:t>17 / 20</a:t>
            </a:r>
          </a:p>
        </p:txBody>
      </p:sp>
    </p:spTree>
    <p:extLst>
      <p:ext uri="{BB962C8B-B14F-4D97-AF65-F5344CB8AC3E}">
        <p14:creationId xmlns:p14="http://schemas.microsoft.com/office/powerpoint/2010/main" val="137850107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3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F170C6A-CA8C-48A1-A05A-0C25F58A2B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2E6058-E1BE-4A4D-A461-AEE279CC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381000"/>
            <a:ext cx="2667000" cy="266700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CE52ED-2AE5-47FD-9F0A-91243644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"/>
            <a:ext cx="1524000" cy="152400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C7679F-B55D-4F5E-832A-D862205E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F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E9728B-665D-476E-B124-A0E4DD2B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FF"/>
                </a:solidFill>
              </a:defRPr>
            </a:pPr>
            <a:r>
              <a:rPr sz="1350" b="1">
                <a:solidFill>
                  <a:srgbClr val="1677FF"/>
                </a:solidFill>
              </a:rPr>
              <a:t>知行雷达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B4FAC0-AFDC-4AFC-8EAC-13B81E00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144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738C"/>
                </a:solidFill>
              </a:defRPr>
            </a:pPr>
            <a:r>
              <a:rPr sz="1350" b="1">
                <a:solidFill>
                  <a:srgbClr val="5F738C"/>
                </a:solidFill>
              </a:rPr>
              <a:t>指标与可信度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FDA84C-9840-48E2-A44F-A77EE708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33D"/>
                </a:solidFill>
              </a:defRPr>
            </a:pPr>
            <a:r>
              <a:rPr sz="2325" b="1">
                <a:solidFill>
                  <a:srgbClr val="10233D"/>
                </a:solidFill>
              </a:rPr>
              <a:t>模型指标既要达标，也要可信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789E9B-B3F9-4BC7-A4FE-416E98B6B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C"/>
                </a:solidFill>
              </a:defRPr>
            </a:pPr>
            <a:r>
              <a:rPr sz="1200" b="0">
                <a:solidFill>
                  <a:srgbClr val="5F738C"/>
                </a:solidFill>
              </a:rPr>
              <a:t>我们不仅关注高分，还排查了过高指标背后的泄漏风险和口径问题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111D84-3044-4243-BC89-0F5563FA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742950"/>
            <a:ext cx="1428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E1EE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6E7BD7-E7A0-4502-B8D2-4849FE2A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191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学生成长分析平台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150D32-B9D7-4CDD-B791-FFB268D0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904B48-6571-494D-BCD0-CE181CE8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67000"/>
            <a:ext cx="514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344D"/>
                </a:solidFill>
              </a:defRPr>
            </a:pPr>
            <a:r>
              <a:rPr sz="1500" b="0">
                <a:solidFill>
                  <a:srgbClr val="21344D"/>
                </a:solidFill>
              </a:rPr>
              <a:t>风险模型 AUC≈0.92，满足赛题要求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C77F3F-111A-4812-A922-2F7B702D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D48653-A46E-4B97-9D30-2D739620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62300"/>
            <a:ext cx="514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344D"/>
                </a:solidFill>
              </a:defRPr>
            </a:pPr>
            <a:r>
              <a:rPr sz="1500" b="0">
                <a:solidFill>
                  <a:srgbClr val="21344D"/>
                </a:solidFill>
              </a:rPr>
              <a:t>四级模型 AUC≈0.86，更接近真实预测任务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2FCCEA-1202-4662-9C62-EFF64700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0FD94A-5EE2-4C37-BBE2-F52DBD62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57600"/>
            <a:ext cx="514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344D"/>
                </a:solidFill>
              </a:defRPr>
            </a:pPr>
            <a:r>
              <a:rPr sz="1500" b="0">
                <a:solidFill>
                  <a:srgbClr val="21344D"/>
                </a:solidFill>
              </a:rPr>
              <a:t>六级模型 AUC 较高，结合类别不平衡背景进行说明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A8C3B5-A2BB-490E-B1EC-481CC9DC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054EA2-66B0-403A-BD31-59E965032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52900"/>
            <a:ext cx="514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344D"/>
                </a:solidFill>
              </a:defRPr>
            </a:pPr>
            <a:r>
              <a:rPr sz="1500" b="0">
                <a:solidFill>
                  <a:srgbClr val="21344D"/>
                </a:solidFill>
              </a:rPr>
              <a:t>健康、学习投入、综合发展等多分类任务优先展示 Macro F1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D02FC6-8B98-4D20-89EB-B25ABCB9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053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B9FE46-2369-4980-BAC9-484F4879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48200"/>
            <a:ext cx="514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344D"/>
                </a:solidFill>
              </a:defRPr>
            </a:pPr>
            <a:r>
              <a:rPr sz="1500" b="0">
                <a:solidFill>
                  <a:srgbClr val="21344D"/>
                </a:solidFill>
              </a:rPr>
              <a:t>对过高指标做了特征口径与泄漏风险排查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20B16B-96CE-40EA-81D2-DA0BE92E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71750"/>
            <a:ext cx="44767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F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D842E2-4F67-4C40-8BEA-4E9CF7A8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765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3D"/>
                </a:solidFill>
              </a:defRPr>
            </a:pPr>
            <a:r>
              <a:rPr sz="1500" b="1">
                <a:solidFill>
                  <a:srgbClr val="10233D"/>
                </a:solidFill>
              </a:rPr>
              <a:t>可信度控制思路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34B48E-0ED5-4B04-A0B5-902A53F8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33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B07D"/>
          </a:solidFill>
          <a:ln xmlns:a="http://schemas.openxmlformats.org/drawingml/2006/main" w="9525">
            <a:solidFill>
              <a:srgbClr val="22B07D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091729-9678-46D5-92F4-57CE08A5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2766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344D"/>
                </a:solidFill>
              </a:defRPr>
            </a:pPr>
            <a:r>
              <a:rPr sz="1500" b="0">
                <a:solidFill>
                  <a:srgbClr val="21344D"/>
                </a:solidFill>
              </a:rPr>
              <a:t>不夸大单一指标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4989C7-358A-426D-A99E-CEC811E2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14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B07D"/>
          </a:solidFill>
          <a:ln xmlns:a="http://schemas.openxmlformats.org/drawingml/2006/main" w="9525">
            <a:solidFill>
              <a:srgbClr val="22B07D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840465-42C4-4400-BDB4-DE6692B6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6576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344D"/>
                </a:solidFill>
              </a:defRPr>
            </a:pPr>
            <a:r>
              <a:rPr sz="1500" b="0">
                <a:solidFill>
                  <a:srgbClr val="21344D"/>
                </a:solidFill>
              </a:rPr>
              <a:t>区分二分类与多分类口径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37F42C-FC6C-493D-9AE5-7B674A18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095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B07D"/>
          </a:solidFill>
          <a:ln xmlns:a="http://schemas.openxmlformats.org/drawingml/2006/main" w="9525">
            <a:solidFill>
              <a:srgbClr val="22B07D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EACEA3-1243-4822-BBD0-C64BD2FD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0386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344D"/>
                </a:solidFill>
              </a:defRPr>
            </a:pPr>
            <a:r>
              <a:rPr sz="1500" b="0">
                <a:solidFill>
                  <a:srgbClr val="21344D"/>
                </a:solidFill>
              </a:rPr>
              <a:t>说明样本不平衡背景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5B5774-04FE-4DFB-8CA0-F4C8ECB73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476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B07D"/>
          </a:solidFill>
          <a:ln xmlns:a="http://schemas.openxmlformats.org/drawingml/2006/main" w="9525">
            <a:solidFill>
              <a:srgbClr val="22B07D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C1B07D-9349-4F12-9FAD-63A825FD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4196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344D"/>
                </a:solidFill>
              </a:defRPr>
            </a:pPr>
            <a:r>
              <a:rPr sz="1500" b="0">
                <a:solidFill>
                  <a:srgbClr val="21344D"/>
                </a:solidFill>
              </a:rPr>
              <a:t>展示解释与应用价值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0F5ABD-7E3D-411E-BB37-F9D601EF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770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738C"/>
                </a:solidFill>
              </a:defRPr>
            </a:pPr>
            <a:r>
              <a:rPr sz="900" b="0">
                <a:solidFill>
                  <a:srgbClr val="5F738C"/>
                </a:solidFill>
              </a:rPr>
              <a:t>18 / 20</a:t>
            </a:r>
          </a:p>
        </p:txBody>
      </p:sp>
    </p:spTree>
    <p:extLst>
      <p:ext uri="{BB962C8B-B14F-4D97-AF65-F5344CB8AC3E}">
        <p14:creationId xmlns:p14="http://schemas.microsoft.com/office/powerpoint/2010/main" val="171119354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3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F170C6A-CA8C-48A1-A05A-0C25F58A2B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AC72EF-28E6-487F-927E-1A7007679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381000"/>
            <a:ext cx="2667000" cy="266700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AFED7C-8B02-4D35-8F82-DD3482DD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"/>
            <a:ext cx="1524000" cy="152400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389AAF-B75D-4007-BF62-610A2103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F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6A0123-1A23-4920-9672-4E5273F8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FF"/>
                </a:solidFill>
              </a:defRPr>
            </a:pPr>
            <a:r>
              <a:rPr sz="1350" b="1">
                <a:solidFill>
                  <a:srgbClr val="1677FF"/>
                </a:solidFill>
              </a:rPr>
              <a:t>知行雷达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33E6B5-6785-4E65-8F38-971B8EDC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144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738C"/>
                </a:solidFill>
              </a:defRPr>
            </a:pPr>
            <a:r>
              <a:rPr sz="1350" b="1">
                <a:solidFill>
                  <a:srgbClr val="5F738C"/>
                </a:solidFill>
              </a:rPr>
              <a:t>价值与落地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CAA0C9-A198-4576-AF99-17B558D3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33D"/>
                </a:solidFill>
              </a:defRPr>
            </a:pPr>
            <a:r>
              <a:rPr sz="2325" b="1">
                <a:solidFill>
                  <a:srgbClr val="10233D"/>
                </a:solidFill>
              </a:rPr>
              <a:t>从竞赛作品延伸到校园管理应用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5279DE-C392-4001-B9D7-23A652E9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C"/>
                </a:solidFill>
              </a:defRPr>
            </a:pPr>
            <a:r>
              <a:rPr sz="1200" b="0">
                <a:solidFill>
                  <a:srgbClr val="5F738C"/>
                </a:solidFill>
              </a:rPr>
              <a:t>项目兼顾展示效果和真实使用逻辑，具备进一步部署与扩展潜力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8F8CB0-40E9-42CB-B075-51769EB8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742950"/>
            <a:ext cx="1428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E1EE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1B1E7C-D339-4E60-A9DA-A2A152982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191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学生成长分析平台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BFFE48-5AB0-4BED-B811-555C6C440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BDF7"/>
          </a:solidFill>
          <a:ln xmlns:a="http://schemas.openxmlformats.org/drawingml/2006/main" w="9525">
            <a:solidFill>
              <a:srgbClr val="40BDF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86D5FD-FBB6-4603-80A0-CC5D2F35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62250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344D"/>
                </a:solidFill>
              </a:defRPr>
            </a:pPr>
            <a:r>
              <a:rPr sz="1500" b="0">
                <a:solidFill>
                  <a:srgbClr val="21344D"/>
                </a:solidFill>
              </a:rPr>
              <a:t>帮助学校更早识别需要关注的学生群体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A81072-84A3-4740-8067-B561A43B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BDF7"/>
          </a:solidFill>
          <a:ln xmlns:a="http://schemas.openxmlformats.org/drawingml/2006/main" w="9525">
            <a:solidFill>
              <a:srgbClr val="40BDF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3662F8-14EF-47F4-B027-D97BBCFF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57550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344D"/>
                </a:solidFill>
              </a:defRPr>
            </a:pPr>
            <a:r>
              <a:rPr sz="1500" b="0">
                <a:solidFill>
                  <a:srgbClr val="21344D"/>
                </a:solidFill>
              </a:rPr>
              <a:t>帮助辅导员从名单走向解释和建议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D83567-8AF5-4D10-8B72-7E9034DA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BDF7"/>
          </a:solidFill>
          <a:ln xmlns:a="http://schemas.openxmlformats.org/drawingml/2006/main" w="9525">
            <a:solidFill>
              <a:srgbClr val="40BDF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7BE808-1A94-44C2-87C1-C291C5443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52850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344D"/>
                </a:solidFill>
              </a:defRPr>
            </a:pPr>
            <a:r>
              <a:rPr sz="1500" b="0">
                <a:solidFill>
                  <a:srgbClr val="21344D"/>
                </a:solidFill>
              </a:rPr>
              <a:t>帮助学生主动理解自身状态并做出调整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5A6DE5-0FCE-449A-82CA-F58B5F30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BDF7"/>
          </a:solidFill>
          <a:ln xmlns:a="http://schemas.openxmlformats.org/drawingml/2006/main" w="9525">
            <a:solidFill>
              <a:srgbClr val="40BDF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1C1249-D8C9-4F50-8505-224B07B5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48150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344D"/>
                </a:solidFill>
              </a:defRPr>
            </a:pPr>
            <a:r>
              <a:rPr sz="1500" b="0">
                <a:solidFill>
                  <a:srgbClr val="21344D"/>
                </a:solidFill>
              </a:rPr>
              <a:t>支持服务器部署、账号扩展和更多数据接入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553480-2943-4AFC-A91C-2E357A27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86050"/>
            <a:ext cx="4476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D9EAF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066C81-9D13-43E3-97EC-697D28336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718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3D"/>
                </a:solidFill>
              </a:defRPr>
            </a:pPr>
            <a:r>
              <a:rPr sz="1500" b="1">
                <a:solidFill>
                  <a:srgbClr val="10233D"/>
                </a:solidFill>
              </a:rPr>
              <a:t>可扩展方向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3A2EB4-0057-4290-B939-FA14AF06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429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65EAEA-4717-4E89-AE32-EEE26F66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371850"/>
            <a:ext cx="323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344D"/>
                </a:solidFill>
              </a:defRPr>
            </a:pPr>
            <a:r>
              <a:rPr sz="1500" b="0">
                <a:solidFill>
                  <a:srgbClr val="21344D"/>
                </a:solidFill>
              </a:rPr>
              <a:t>接入更多高校业务数据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92DAB4-9AA0-4B8C-AC55-6B995F0C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10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FFCC55-C749-476C-A725-107F2CBC9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752850"/>
            <a:ext cx="323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344D"/>
                </a:solidFill>
              </a:defRPr>
            </a:pPr>
            <a:r>
              <a:rPr sz="1500" b="0">
                <a:solidFill>
                  <a:srgbClr val="21344D"/>
                </a:solidFill>
              </a:rPr>
              <a:t>完善干预闭环工作流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D50CB0-E008-485A-899C-74A4D7CC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91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3F3202-3590-4EEC-9209-437C53F0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133850"/>
            <a:ext cx="323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344D"/>
                </a:solidFill>
              </a:defRPr>
            </a:pPr>
            <a:r>
              <a:rPr sz="1500" b="0">
                <a:solidFill>
                  <a:srgbClr val="21344D"/>
                </a:solidFill>
              </a:rPr>
              <a:t>正式部署到服务器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C57983-C291-42DE-92C5-02AB3FB3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72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A06A75-9069-48F6-8709-3EC0FE39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514850"/>
            <a:ext cx="323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344D"/>
                </a:solidFill>
              </a:defRPr>
            </a:pPr>
            <a:r>
              <a:rPr sz="1500" b="0">
                <a:solidFill>
                  <a:srgbClr val="21344D"/>
                </a:solidFill>
              </a:rPr>
              <a:t>形成持续运营的数据平台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DEFFF0-36B4-4F06-A13C-FFD864DD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770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738C"/>
                </a:solidFill>
              </a:defRPr>
            </a:pPr>
            <a:r>
              <a:rPr sz="900" b="0">
                <a:solidFill>
                  <a:srgbClr val="5F738C"/>
                </a:solidFill>
              </a:rPr>
              <a:t>19 / 20</a:t>
            </a:r>
          </a:p>
        </p:txBody>
      </p:sp>
    </p:spTree>
    <p:extLst>
      <p:ext uri="{BB962C8B-B14F-4D97-AF65-F5344CB8AC3E}">
        <p14:creationId xmlns:p14="http://schemas.microsoft.com/office/powerpoint/2010/main" val="91935539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3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F170C6A-CA8C-48A1-A05A-0C25F58A2B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F138CA-4B75-424B-B1B9-73360B1A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381000"/>
            <a:ext cx="2667000" cy="266700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D8FED9-6B87-4A69-95F8-70E6281EB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"/>
            <a:ext cx="1524000" cy="152400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279143-F3BF-482B-838D-4E4DE2E4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F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12235B-83C9-4713-B571-AA89D18D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FF"/>
                </a:solidFill>
              </a:defRPr>
            </a:pPr>
            <a:r>
              <a:rPr sz="1350" b="1">
                <a:solidFill>
                  <a:srgbClr val="1677FF"/>
                </a:solidFill>
              </a:rPr>
              <a:t>知行雷达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047083-13F9-45FD-9058-7BDC7E64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144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738C"/>
                </a:solidFill>
              </a:defRPr>
            </a:pPr>
            <a:r>
              <a:rPr sz="1350" b="1">
                <a:solidFill>
                  <a:srgbClr val="5F738C"/>
                </a:solidFill>
              </a:rPr>
              <a:t>总结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18C515-89C6-4456-A33D-2F3B6F83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33D"/>
                </a:solidFill>
              </a:defRPr>
            </a:pPr>
            <a:r>
              <a:rPr sz="2325" b="1">
                <a:solidFill>
                  <a:srgbClr val="10233D"/>
                </a:solidFill>
              </a:rPr>
              <a:t>知行雷达：让学生成长状态看得见、讲得清、可行动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B384E1-9387-431A-84AC-1CC1BCA8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38C"/>
                </a:solidFill>
              </a:defRPr>
            </a:pPr>
            <a:r>
              <a:rPr sz="1200" b="0">
                <a:solidFill>
                  <a:srgbClr val="5F738C"/>
                </a:solidFill>
              </a:rPr>
              <a:t>感谢各位老师审阅，期待通过本项目展示数据分析、系统实现与产品落地的综合能力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B1C310-DE9E-49DA-AD86-D6A703D0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742950"/>
            <a:ext cx="1428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E1EE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EE9D8C-6B21-4392-BC28-87472AA9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191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77FF"/>
                </a:solidFill>
              </a:defRPr>
            </a:pPr>
            <a:r>
              <a:rPr sz="1050" b="1">
                <a:solidFill>
                  <a:srgbClr val="1677FF"/>
                </a:solidFill>
              </a:rPr>
              <a:t>学生成长分析平台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3EC0B9-44D6-4C31-A04F-4478A641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104394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F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B84D72-371F-46A3-8DA3-DE474E4C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289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</a:defRPr>
            </a:pPr>
            <a:r>
              <a:rPr sz="1500" b="1">
                <a:solidFill>
                  <a:srgbClr val="1677FF"/>
                </a:solidFill>
              </a:rPr>
              <a:t>项目亮点回顾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4C788B-B066-40FA-8F8D-485751C9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86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17A08F-F544-468F-ADDB-0D825F50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2900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344D"/>
                </a:solidFill>
              </a:defRPr>
            </a:pPr>
            <a:r>
              <a:rPr sz="1500" b="0">
                <a:solidFill>
                  <a:srgbClr val="21344D"/>
                </a:solidFill>
              </a:rPr>
              <a:t>多源数据融合 + 学生个体画像 + 群体画像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DA5404-744C-4BCF-8872-C78CAA3E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62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727E12-671F-4802-86A1-7D829F3E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9052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344D"/>
                </a:solidFill>
              </a:defRPr>
            </a:pPr>
            <a:r>
              <a:rPr sz="1500" b="0">
                <a:solidFill>
                  <a:srgbClr val="21344D"/>
                </a:solidFill>
              </a:rPr>
              <a:t>风险预警 + 多任务成长预测 + 可解释结果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9922C2-5C9B-45AC-8B79-DE7EE752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386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FF02FF-5DDE-4EF0-A3A1-C1BEBA69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8150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344D"/>
                </a:solidFill>
              </a:defRPr>
            </a:pPr>
            <a:r>
              <a:rPr sz="1500" b="0">
                <a:solidFill>
                  <a:srgbClr val="21344D"/>
                </a:solidFill>
              </a:rPr>
              <a:t>管理端、学生端、安卓端、智能助手四位一体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C3EA63-199E-43A6-96B1-D59E0D8E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14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439D13-F120-4DED-954A-10884754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8577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344D"/>
                </a:solidFill>
              </a:defRPr>
            </a:pPr>
            <a:r>
              <a:rPr sz="1500" b="0">
                <a:solidFill>
                  <a:srgbClr val="21344D"/>
                </a:solidFill>
              </a:rPr>
              <a:t>具备完整竞赛交付形态与后续扩展能力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9DD58C-0B8D-4C58-BF8D-90357D9C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43250"/>
            <a:ext cx="1619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DF9FF"/>
          </a:solidFill>
          <a:ln xmlns:a="http://schemas.openxmlformats.org/drawingml/2006/main" w="9525">
            <a:solidFill>
              <a:srgbClr val="DDEEF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6F9BA4-E839-4313-9830-5951B975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524250"/>
            <a:ext cx="952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233D"/>
                </a:solidFill>
              </a:defRPr>
            </a:pPr>
            <a:r>
              <a:rPr sz="2100" b="1">
                <a:solidFill>
                  <a:srgbClr val="10233D"/>
                </a:solidFill>
              </a:rPr>
              <a:t>知行</a:t>
            </a:r>
          </a:p>
          <a:p xmlns:a="http://schemas.openxmlformats.org/drawingml/2006/main">
            <a:pPr algn="ctr">
              <a:defRPr sz="2100" b="1">
                <a:solidFill>
                  <a:srgbClr val="10233D"/>
                </a:solidFill>
              </a:defRPr>
            </a:pPr>
            <a:r>
              <a:rPr sz="2100" b="1">
                <a:solidFill>
                  <a:srgbClr val="10233D"/>
                </a:solidFill>
              </a:rPr>
              <a:t>雷达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8364E6-E8E6-4FE0-81C0-7BF79E67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770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738C"/>
                </a:solidFill>
              </a:defRPr>
            </a:pPr>
            <a:r>
              <a:rPr sz="900" b="0">
                <a:solidFill>
                  <a:srgbClr val="5F738C"/>
                </a:solidFill>
              </a:rPr>
              <a:t>20 / 20</a:t>
            </a:r>
          </a:p>
        </p:txBody>
      </p:sp>
    </p:spTree>
    <p:extLst>
      <p:ext uri="{BB962C8B-B14F-4D97-AF65-F5344CB8AC3E}">
        <p14:creationId xmlns:p14="http://schemas.microsoft.com/office/powerpoint/2010/main" val="10013370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2026-04-21T18:15:03.3640000Z</dcterms:created>
  <dcterms:modified xsi:type="dcterms:W3CDTF">2026-04-21T18:15:03.3640000Z</dcterms:modified>
</coreProperties>
</file>